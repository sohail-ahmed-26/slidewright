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A3B"/>
        </a:solidFill>
      </p:bgPr>
    </p:bg>
    <p:spTree>
      <p:nvGrpSpPr>
        <p:cNvPr id="1" name=""/>
        <p:cNvGrpSpPr/>
        <p:nvPr/>
      </p:nvGrpSpPr>
      <p:grpSpPr>
        <a:xfrm>
          <a:off x="0" y="0"/>
          <a:ext cx="0" cy="0"/>
          <a:chOff x="0" y="0"/>
          <a:chExt cx="0" cy="0"/>
        </a:xfrm>
      </p:grpSpPr>
      <p:pic>
        <p:nvPicPr>
          <p:cNvPr id="2" name="Image 0" descr="assets/logo_white_crop.png">    </p:cNvPr>
          <p:cNvPicPr>
            <a:picLocks noChangeAspect="1"/>
          </p:cNvPicPr>
          <p:nvPr/>
        </p:nvPicPr>
        <p:blipFill>
          <a:blip r:embed="rId1">
            <a:alphaModFix amt="12000"/>
          </a:blip>
          <a:stretch>
            <a:fillRect/>
          </a:stretch>
        </p:blipFill>
        <p:spPr>
          <a:xfrm>
            <a:off x="9692640" y="4114800"/>
            <a:ext cx="3291840" cy="3291840"/>
          </a:xfrm>
          <a:prstGeom prst="rect">
            <a:avLst/>
          </a:prstGeom>
        </p:spPr>
      </p:pic>
      <p:pic>
        <p:nvPicPr>
          <p:cNvPr id="3" name="Image 1" descr="assets/logo_white_crop.png">    </p:cNvPr>
          <p:cNvPicPr>
            <a:picLocks noChangeAspect="1"/>
          </p:cNvPicPr>
          <p:nvPr/>
        </p:nvPicPr>
        <p:blipFill>
          <a:blip r:embed="rId2"/>
          <a:stretch>
            <a:fillRect/>
          </a:stretch>
        </p:blipFill>
        <p:spPr>
          <a:xfrm>
            <a:off x="548640" y="502920"/>
            <a:ext cx="566928" cy="566928"/>
          </a:xfrm>
          <a:prstGeom prst="rect">
            <a:avLst/>
          </a:prstGeom>
        </p:spPr>
      </p:pic>
      <p:sp>
        <p:nvSpPr>
          <p:cNvPr id="4" name="Text 0"/>
          <p:cNvSpPr/>
          <p:nvPr/>
        </p:nvSpPr>
        <p:spPr>
          <a:xfrm>
            <a:off x="1207008" y="502920"/>
            <a:ext cx="548640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Devsil (SMC-Private) Limited</a:t>
            </a:r>
            <a:endParaRPr lang="en-US" sz="1500" dirty="0"/>
          </a:p>
        </p:txBody>
      </p:sp>
      <p:sp>
        <p:nvSpPr>
          <p:cNvPr id="5" name="Shape 1"/>
          <p:cNvSpPr/>
          <p:nvPr/>
        </p:nvSpPr>
        <p:spPr>
          <a:xfrm>
            <a:off x="566928" y="2331720"/>
            <a:ext cx="2148840" cy="457200"/>
          </a:xfrm>
          <a:prstGeom prst="roundRect">
            <a:avLst>
              <a:gd name="adj" fmla="val 50000"/>
            </a:avLst>
          </a:prstGeom>
          <a:solidFill>
            <a:srgbClr val="12504E"/>
          </a:solidFill>
          <a:ln/>
        </p:spPr>
      </p:sp>
      <p:sp>
        <p:nvSpPr>
          <p:cNvPr id="6" name="Text 2"/>
          <p:cNvSpPr/>
          <p:nvPr/>
        </p:nvSpPr>
        <p:spPr>
          <a:xfrm>
            <a:off x="566928" y="2331720"/>
            <a:ext cx="2148840" cy="457200"/>
          </a:xfrm>
          <a:prstGeom prst="rect">
            <a:avLst/>
          </a:prstGeom>
          <a:noFill/>
          <a:ln/>
        </p:spPr>
        <p:txBody>
          <a:bodyPr wrap="square" rtlCol="0" anchor="ctr"/>
          <a:lstStyle/>
          <a:p>
            <a:pPr algn="ctr" indent="0" marL="0">
              <a:buNone/>
            </a:pPr>
            <a:r>
              <a:rPr lang="en-US" sz="1200" b="1" spc="200" kern="0" dirty="0">
                <a:solidFill>
                  <a:srgbClr val="16B7B3"/>
                </a:solidFill>
                <a:latin typeface="Calibri" pitchFamily="34" charset="0"/>
                <a:ea typeface="Calibri" pitchFamily="34" charset="-122"/>
                <a:cs typeface="Calibri" pitchFamily="34" charset="-120"/>
              </a:rPr>
              <a:t>TODAY'S SEMINAR</a:t>
            </a:r>
            <a:endParaRPr lang="en-US" sz="1200" dirty="0"/>
          </a:p>
        </p:txBody>
      </p:sp>
      <p:sp>
        <p:nvSpPr>
          <p:cNvPr id="7" name="Text 3"/>
          <p:cNvSpPr/>
          <p:nvPr/>
        </p:nvSpPr>
        <p:spPr>
          <a:xfrm>
            <a:off x="548640" y="2880360"/>
            <a:ext cx="10972800" cy="914400"/>
          </a:xfrm>
          <a:prstGeom prst="rect">
            <a:avLst/>
          </a:prstGeom>
          <a:noFill/>
          <a:ln/>
        </p:spPr>
        <p:txBody>
          <a:bodyPr wrap="square" lIns="0" tIns="0" rIns="0" bIns="0"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Types of Jobs in </a:t>
            </a:r>
            <a:pPr algn="l" indent="0" marL="0">
              <a:buNone/>
            </a:pPr>
            <a:r>
              <a:rPr lang="en-US" sz="4600" b="1" dirty="0">
                <a:solidFill>
                  <a:srgbClr val="16B7B3"/>
                </a:solidFill>
                <a:latin typeface="Calibri" pitchFamily="34" charset="0"/>
                <a:ea typeface="Calibri" pitchFamily="34" charset="-122"/>
                <a:cs typeface="Calibri" pitchFamily="34" charset="-120"/>
              </a:rPr>
              <a:t>Data Science</a:t>
            </a:r>
            <a:endParaRPr lang="en-US" sz="4600" dirty="0"/>
          </a:p>
        </p:txBody>
      </p:sp>
      <p:sp>
        <p:nvSpPr>
          <p:cNvPr id="8" name="Text 4"/>
          <p:cNvSpPr/>
          <p:nvPr/>
        </p:nvSpPr>
        <p:spPr>
          <a:xfrm>
            <a:off x="548640" y="3794760"/>
            <a:ext cx="1097280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and Full Stack AI Development</a:t>
            </a:r>
            <a:endParaRPr lang="en-US" sz="3400" dirty="0"/>
          </a:p>
        </p:txBody>
      </p:sp>
      <p:sp>
        <p:nvSpPr>
          <p:cNvPr id="9" name="Text 5"/>
          <p:cNvSpPr/>
          <p:nvPr/>
        </p:nvSpPr>
        <p:spPr>
          <a:xfrm>
            <a:off x="566928" y="4709160"/>
            <a:ext cx="8412480" cy="822960"/>
          </a:xfrm>
          <a:prstGeom prst="rect">
            <a:avLst/>
          </a:prstGeom>
          <a:noFill/>
          <a:ln/>
        </p:spPr>
        <p:txBody>
          <a:bodyPr wrap="square" rtlCol="0" anchor="t"/>
          <a:lstStyle/>
          <a:p>
            <a:pPr algn="l" indent="0" marL="0">
              <a:lnSpc>
                <a:spcPct val="115000"/>
              </a:lnSpc>
              <a:buNone/>
            </a:pPr>
            <a:r>
              <a:rPr lang="en-US" sz="1600" dirty="0">
                <a:solidFill>
                  <a:srgbClr val="CFE7E6"/>
                </a:solidFill>
                <a:latin typeface="Calibri" pitchFamily="34" charset="0"/>
                <a:ea typeface="Calibri" pitchFamily="34" charset="-122"/>
                <a:cs typeface="Calibri" pitchFamily="34" charset="-120"/>
              </a:rPr>
              <a:t>Let us look at the exciting jobs open to you, and how one strong set of skills can get you ready for all of them.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The One Big </a:t>
            </a:r>
            <a:pPr algn="l" indent="0" marL="0">
              <a:buNone/>
            </a:pPr>
            <a:r>
              <a:rPr lang="en-US" sz="3200" b="1" dirty="0">
                <a:solidFill>
                  <a:srgbClr val="0C7C79"/>
                </a:solidFill>
                <a:latin typeface="Calibri" pitchFamily="34" charset="0"/>
                <a:ea typeface="Calibri" pitchFamily="34" charset="-122"/>
                <a:cs typeface="Calibri" pitchFamily="34" charset="-120"/>
              </a:rPr>
              <a:t>Question</a:t>
            </a:r>
            <a:endParaRPr lang="en-US" sz="3200" dirty="0"/>
          </a:p>
        </p:txBody>
      </p:sp>
      <p:sp>
        <p:nvSpPr>
          <p:cNvPr id="3" name="Shape 1"/>
          <p:cNvSpPr/>
          <p:nvPr/>
        </p:nvSpPr>
        <p:spPr>
          <a:xfrm>
            <a:off x="10469880" y="457200"/>
            <a:ext cx="822960" cy="822960"/>
          </a:xfrm>
          <a:prstGeom prst="ellipse">
            <a:avLst/>
          </a:prstGeom>
          <a:solidFill>
            <a:srgbClr val="F1FAFA"/>
          </a:solidFill>
          <a:ln/>
        </p:spPr>
      </p:sp>
      <p:pic>
        <p:nvPicPr>
          <p:cNvPr id="4" name="Image 0" descr="assets/ic_question_t.png">    </p:cNvPr>
          <p:cNvPicPr>
            <a:picLocks noChangeAspect="1"/>
          </p:cNvPicPr>
          <p:nvPr/>
        </p:nvPicPr>
        <p:blipFill>
          <a:blip r:embed="rId1"/>
          <a:stretch>
            <a:fillRect/>
          </a:stretch>
        </p:blipFill>
        <p:spPr>
          <a:xfrm>
            <a:off x="10675620" y="662940"/>
            <a:ext cx="411480" cy="411480"/>
          </a:xfrm>
          <a:prstGeom prst="rect">
            <a:avLst/>
          </a:prstGeom>
        </p:spPr>
      </p:pic>
      <p:sp>
        <p:nvSpPr>
          <p:cNvPr id="5" name="Shape 2"/>
          <p:cNvSpPr/>
          <p:nvPr/>
        </p:nvSpPr>
        <p:spPr>
          <a:xfrm>
            <a:off x="548640" y="1737360"/>
            <a:ext cx="5330952" cy="4114800"/>
          </a:xfrm>
          <a:prstGeom prst="roundRect">
            <a:avLst>
              <a:gd name="adj" fmla="val 2667"/>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6" name="Shape 3"/>
          <p:cNvSpPr/>
          <p:nvPr/>
        </p:nvSpPr>
        <p:spPr>
          <a:xfrm>
            <a:off x="1005840" y="2240280"/>
            <a:ext cx="822960" cy="822960"/>
          </a:xfrm>
          <a:prstGeom prst="ellipse">
            <a:avLst/>
          </a:prstGeom>
          <a:solidFill>
            <a:srgbClr val="16B7B3"/>
          </a:solidFill>
          <a:ln/>
        </p:spPr>
      </p:sp>
      <p:pic>
        <p:nvPicPr>
          <p:cNvPr id="7" name="Image 1" descr="assets/ic_compass_w.png">    </p:cNvPr>
          <p:cNvPicPr>
            <a:picLocks noChangeAspect="1"/>
          </p:cNvPicPr>
          <p:nvPr/>
        </p:nvPicPr>
        <p:blipFill>
          <a:blip r:embed="rId2"/>
          <a:stretch>
            <a:fillRect/>
          </a:stretch>
        </p:blipFill>
        <p:spPr>
          <a:xfrm>
            <a:off x="1211580" y="2446020"/>
            <a:ext cx="411480" cy="411480"/>
          </a:xfrm>
          <a:prstGeom prst="rect">
            <a:avLst/>
          </a:prstGeom>
        </p:spPr>
      </p:pic>
      <p:sp>
        <p:nvSpPr>
          <p:cNvPr id="8" name="Text 4"/>
          <p:cNvSpPr/>
          <p:nvPr/>
        </p:nvSpPr>
        <p:spPr>
          <a:xfrm>
            <a:off x="1051560" y="3291840"/>
            <a:ext cx="4325112" cy="822960"/>
          </a:xfrm>
          <a:prstGeom prst="rect">
            <a:avLst/>
          </a:prstGeom>
          <a:noFill/>
          <a:ln/>
        </p:spPr>
        <p:txBody>
          <a:bodyPr wrap="square" rtlCol="0" anchor="t"/>
          <a:lstStyle/>
          <a:p>
            <a:pPr algn="l" indent="0" marL="0">
              <a:lnSpc>
                <a:spcPct val="102000"/>
              </a:lnSpc>
              <a:buNone/>
            </a:pPr>
            <a:r>
              <a:rPr lang="en-US" sz="2100" b="1" dirty="0">
                <a:solidFill>
                  <a:srgbClr val="0C7C79"/>
                </a:solidFill>
                <a:latin typeface="Calibri" pitchFamily="34" charset="0"/>
                <a:ea typeface="Calibri" pitchFamily="34" charset="-122"/>
                <a:cs typeface="Calibri" pitchFamily="34" charset="-120"/>
              </a:rPr>
              <a:t>Do you need a different plan for every job?</a:t>
            </a:r>
            <a:endParaRPr lang="en-US" sz="2100" dirty="0"/>
          </a:p>
        </p:txBody>
      </p:sp>
      <p:sp>
        <p:nvSpPr>
          <p:cNvPr id="9" name="Text 5"/>
          <p:cNvSpPr/>
          <p:nvPr/>
        </p:nvSpPr>
        <p:spPr>
          <a:xfrm>
            <a:off x="1051560" y="4160520"/>
            <a:ext cx="4325112" cy="1463040"/>
          </a:xfrm>
          <a:prstGeom prst="rect">
            <a:avLst/>
          </a:prstGeom>
          <a:noFill/>
          <a:ln/>
        </p:spPr>
        <p:txBody>
          <a:bodyPr wrap="square" rtlCol="0" anchor="t"/>
          <a:lstStyle/>
          <a:p>
            <a:pPr algn="l" indent="0" marL="0">
              <a:lnSpc>
                <a:spcPct val="122000"/>
              </a:lnSpc>
              <a:buNone/>
            </a:pPr>
            <a:r>
              <a:rPr lang="en-US" sz="1550" dirty="0">
                <a:solidFill>
                  <a:srgbClr val="1D2B2B"/>
                </a:solidFill>
                <a:latin typeface="Calibri" pitchFamily="34" charset="0"/>
                <a:ea typeface="Calibri" pitchFamily="34" charset="-122"/>
                <a:cs typeface="Calibri" pitchFamily="34" charset="-120"/>
              </a:rPr>
              <a:t>It can feel scary when you see so many fields, industries, and job titles. Do you have to learn something totally new for each one?</a:t>
            </a:r>
            <a:endParaRPr lang="en-US" sz="1550" dirty="0"/>
          </a:p>
        </p:txBody>
      </p:sp>
      <p:sp>
        <p:nvSpPr>
          <p:cNvPr id="10" name="Shape 6"/>
          <p:cNvSpPr/>
          <p:nvPr/>
        </p:nvSpPr>
        <p:spPr>
          <a:xfrm>
            <a:off x="6309360" y="1737360"/>
            <a:ext cx="5330952" cy="4114800"/>
          </a:xfrm>
          <a:prstGeom prst="roundRect">
            <a:avLst>
              <a:gd name="adj" fmla="val 2667"/>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1" name="Shape 7"/>
          <p:cNvSpPr/>
          <p:nvPr/>
        </p:nvSpPr>
        <p:spPr>
          <a:xfrm>
            <a:off x="6766560" y="2240280"/>
            <a:ext cx="822960" cy="822960"/>
          </a:xfrm>
          <a:prstGeom prst="ellipse">
            <a:avLst/>
          </a:prstGeom>
          <a:solidFill>
            <a:srgbClr val="16B7B3"/>
          </a:solidFill>
          <a:ln/>
        </p:spPr>
      </p:sp>
      <p:pic>
        <p:nvPicPr>
          <p:cNvPr id="12" name="Image 2" descr="assets/ic_target_w.png">    </p:cNvPr>
          <p:cNvPicPr>
            <a:picLocks noChangeAspect="1"/>
          </p:cNvPicPr>
          <p:nvPr/>
        </p:nvPicPr>
        <p:blipFill>
          <a:blip r:embed="rId3"/>
          <a:stretch>
            <a:fillRect/>
          </a:stretch>
        </p:blipFill>
        <p:spPr>
          <a:xfrm>
            <a:off x="6972300" y="2446020"/>
            <a:ext cx="411480" cy="411480"/>
          </a:xfrm>
          <a:prstGeom prst="rect">
            <a:avLst/>
          </a:prstGeom>
        </p:spPr>
      </p:pic>
      <p:sp>
        <p:nvSpPr>
          <p:cNvPr id="13" name="Text 8"/>
          <p:cNvSpPr/>
          <p:nvPr/>
        </p:nvSpPr>
        <p:spPr>
          <a:xfrm>
            <a:off x="6812280" y="3291840"/>
            <a:ext cx="4325112" cy="822960"/>
          </a:xfrm>
          <a:prstGeom prst="rect">
            <a:avLst/>
          </a:prstGeom>
          <a:noFill/>
          <a:ln/>
        </p:spPr>
        <p:txBody>
          <a:bodyPr wrap="square" rtlCol="0" anchor="t"/>
          <a:lstStyle/>
          <a:p>
            <a:pPr algn="l" indent="0" marL="0">
              <a:lnSpc>
                <a:spcPct val="102000"/>
              </a:lnSpc>
              <a:buNone/>
            </a:pPr>
            <a:r>
              <a:rPr lang="en-US" sz="2100" b="1" dirty="0">
                <a:solidFill>
                  <a:srgbClr val="0C7C79"/>
                </a:solidFill>
                <a:latin typeface="Calibri" pitchFamily="34" charset="0"/>
                <a:ea typeface="Calibri" pitchFamily="34" charset="-122"/>
                <a:cs typeface="Calibri" pitchFamily="34" charset="-120"/>
              </a:rPr>
              <a:t>The answer comes at the end.</a:t>
            </a:r>
            <a:endParaRPr lang="en-US" sz="2100" dirty="0"/>
          </a:p>
        </p:txBody>
      </p:sp>
      <p:sp>
        <p:nvSpPr>
          <p:cNvPr id="14" name="Text 9"/>
          <p:cNvSpPr/>
          <p:nvPr/>
        </p:nvSpPr>
        <p:spPr>
          <a:xfrm>
            <a:off x="6812280" y="4160520"/>
            <a:ext cx="4325112" cy="1463040"/>
          </a:xfrm>
          <a:prstGeom prst="rect">
            <a:avLst/>
          </a:prstGeom>
          <a:noFill/>
          <a:ln/>
        </p:spPr>
        <p:txBody>
          <a:bodyPr wrap="square" rtlCol="0" anchor="t"/>
          <a:lstStyle/>
          <a:p>
            <a:pPr algn="l" indent="0" marL="0">
              <a:lnSpc>
                <a:spcPct val="122000"/>
              </a:lnSpc>
              <a:buNone/>
            </a:pPr>
            <a:r>
              <a:rPr lang="en-US" sz="1550" dirty="0">
                <a:solidFill>
                  <a:srgbClr val="1D2B2B"/>
                </a:solidFill>
                <a:latin typeface="Calibri" pitchFamily="34" charset="0"/>
                <a:ea typeface="Calibri" pitchFamily="34" charset="-122"/>
                <a:cs typeface="Calibri" pitchFamily="34" charset="-120"/>
              </a:rPr>
              <a:t>First, let us look closely at the main types of jobs that are waiting for you in the real world.</a:t>
            </a:r>
            <a:endParaRPr lang="en-US" sz="1550" dirty="0"/>
          </a:p>
        </p:txBody>
      </p:sp>
      <p:pic>
        <p:nvPicPr>
          <p:cNvPr id="15" name="Image 3" descr="assets/logo_teal_crop.png">    </p:cNvPr>
          <p:cNvPicPr>
            <a:picLocks noChangeAspect="1"/>
          </p:cNvPicPr>
          <p:nvPr/>
        </p:nvPicPr>
        <p:blipFill>
          <a:blip r:embed="rId4"/>
          <a:stretch>
            <a:fillRect/>
          </a:stretch>
        </p:blipFill>
        <p:spPr>
          <a:xfrm>
            <a:off x="548640" y="6419088"/>
            <a:ext cx="256032" cy="256032"/>
          </a:xfrm>
          <a:prstGeom prst="rect">
            <a:avLst/>
          </a:prstGeom>
        </p:spPr>
      </p:pic>
      <p:sp>
        <p:nvSpPr>
          <p:cNvPr id="16" name="Text 10"/>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17" name="Text 11"/>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One Field, </a:t>
            </a:r>
            <a:pPr algn="l" indent="0" marL="0">
              <a:buNone/>
            </a:pPr>
            <a:r>
              <a:rPr lang="en-US" sz="3200" b="1" dirty="0">
                <a:solidFill>
                  <a:srgbClr val="0C7C79"/>
                </a:solidFill>
                <a:latin typeface="Calibri" pitchFamily="34" charset="0"/>
                <a:ea typeface="Calibri" pitchFamily="34" charset="-122"/>
                <a:cs typeface="Calibri" pitchFamily="34" charset="-120"/>
              </a:rPr>
              <a:t>Many Directions</a:t>
            </a:r>
            <a:endParaRPr lang="en-US" sz="3200" dirty="0"/>
          </a:p>
        </p:txBody>
      </p:sp>
      <p:sp>
        <p:nvSpPr>
          <p:cNvPr id="3" name="Text 1"/>
          <p:cNvSpPr/>
          <p:nvPr/>
        </p:nvSpPr>
        <p:spPr>
          <a:xfrm>
            <a:off x="548640" y="1234440"/>
            <a:ext cx="10972800" cy="457200"/>
          </a:xfrm>
          <a:prstGeom prst="rect">
            <a:avLst/>
          </a:prstGeom>
          <a:noFill/>
          <a:ln/>
        </p:spPr>
        <p:txBody>
          <a:bodyPr wrap="square" lIns="0" tIns="0" rIns="0" bIns="0" rtlCol="0" anchor="ctr"/>
          <a:lstStyle/>
          <a:p>
            <a:pPr indent="0" marL="0">
              <a:buNone/>
            </a:pPr>
            <a:r>
              <a:rPr lang="en-US" sz="1600" dirty="0">
                <a:solidFill>
                  <a:srgbClr val="5F7373"/>
                </a:solidFill>
                <a:latin typeface="Calibri" pitchFamily="34" charset="0"/>
                <a:ea typeface="Calibri" pitchFamily="34" charset="-122"/>
                <a:cs typeface="Calibri" pitchFamily="34" charset="-120"/>
              </a:rPr>
              <a:t>Data Science is one big field. All of these skills live inside it.</a:t>
            </a:r>
            <a:endParaRPr lang="en-US" sz="1600" dirty="0"/>
          </a:p>
        </p:txBody>
      </p:sp>
      <p:sp>
        <p:nvSpPr>
          <p:cNvPr id="4" name="Shape 2"/>
          <p:cNvSpPr/>
          <p:nvPr/>
        </p:nvSpPr>
        <p:spPr>
          <a:xfrm>
            <a:off x="778612" y="1965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5" name="Shape 3"/>
          <p:cNvSpPr/>
          <p:nvPr/>
        </p:nvSpPr>
        <p:spPr>
          <a:xfrm>
            <a:off x="998068" y="2139696"/>
            <a:ext cx="566928" cy="566928"/>
          </a:xfrm>
          <a:prstGeom prst="ellipse">
            <a:avLst/>
          </a:prstGeom>
          <a:solidFill>
            <a:srgbClr val="16B7B3"/>
          </a:solidFill>
          <a:ln/>
        </p:spPr>
      </p:sp>
      <p:pic>
        <p:nvPicPr>
          <p:cNvPr id="6" name="Image 0" descr="assets/ic_bars_w.png">    </p:cNvPr>
          <p:cNvPicPr>
            <a:picLocks noChangeAspect="1"/>
          </p:cNvPicPr>
          <p:nvPr/>
        </p:nvPicPr>
        <p:blipFill>
          <a:blip r:embed="rId1"/>
          <a:stretch>
            <a:fillRect/>
          </a:stretch>
        </p:blipFill>
        <p:spPr>
          <a:xfrm>
            <a:off x="1139800" y="2281428"/>
            <a:ext cx="283464" cy="283464"/>
          </a:xfrm>
          <a:prstGeom prst="rect">
            <a:avLst/>
          </a:prstGeom>
        </p:spPr>
      </p:pic>
      <p:sp>
        <p:nvSpPr>
          <p:cNvPr id="7" name="Text 4"/>
          <p:cNvSpPr/>
          <p:nvPr/>
        </p:nvSpPr>
        <p:spPr>
          <a:xfrm>
            <a:off x="1647292" y="1965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Data Analytics</a:t>
            </a:r>
            <a:endParaRPr lang="en-US" sz="1450" dirty="0"/>
          </a:p>
        </p:txBody>
      </p:sp>
      <p:sp>
        <p:nvSpPr>
          <p:cNvPr id="8" name="Shape 5"/>
          <p:cNvSpPr/>
          <p:nvPr/>
        </p:nvSpPr>
        <p:spPr>
          <a:xfrm>
            <a:off x="3494380" y="1965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9" name="Shape 6"/>
          <p:cNvSpPr/>
          <p:nvPr/>
        </p:nvSpPr>
        <p:spPr>
          <a:xfrm>
            <a:off x="3713836" y="2139696"/>
            <a:ext cx="566928" cy="566928"/>
          </a:xfrm>
          <a:prstGeom prst="ellipse">
            <a:avLst/>
          </a:prstGeom>
          <a:solidFill>
            <a:srgbClr val="16B7B3"/>
          </a:solidFill>
          <a:ln/>
        </p:spPr>
      </p:sp>
      <p:pic>
        <p:nvPicPr>
          <p:cNvPr id="10" name="Image 1" descr="assets/ic_chip_w.png">    </p:cNvPr>
          <p:cNvPicPr>
            <a:picLocks noChangeAspect="1"/>
          </p:cNvPicPr>
          <p:nvPr/>
        </p:nvPicPr>
        <p:blipFill>
          <a:blip r:embed="rId2"/>
          <a:stretch>
            <a:fillRect/>
          </a:stretch>
        </p:blipFill>
        <p:spPr>
          <a:xfrm>
            <a:off x="3855568" y="2281428"/>
            <a:ext cx="283464" cy="283464"/>
          </a:xfrm>
          <a:prstGeom prst="rect">
            <a:avLst/>
          </a:prstGeom>
        </p:spPr>
      </p:pic>
      <p:sp>
        <p:nvSpPr>
          <p:cNvPr id="11" name="Text 7"/>
          <p:cNvSpPr/>
          <p:nvPr/>
        </p:nvSpPr>
        <p:spPr>
          <a:xfrm>
            <a:off x="4363060" y="1965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Machine Learning</a:t>
            </a:r>
            <a:endParaRPr lang="en-US" sz="1450" dirty="0"/>
          </a:p>
        </p:txBody>
      </p:sp>
      <p:sp>
        <p:nvSpPr>
          <p:cNvPr id="12" name="Shape 8"/>
          <p:cNvSpPr/>
          <p:nvPr/>
        </p:nvSpPr>
        <p:spPr>
          <a:xfrm>
            <a:off x="6210148" y="1965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3" name="Shape 9"/>
          <p:cNvSpPr/>
          <p:nvPr/>
        </p:nvSpPr>
        <p:spPr>
          <a:xfrm>
            <a:off x="6429604" y="2139696"/>
            <a:ext cx="566928" cy="566928"/>
          </a:xfrm>
          <a:prstGeom prst="ellipse">
            <a:avLst/>
          </a:prstGeom>
          <a:solidFill>
            <a:srgbClr val="16B7B3"/>
          </a:solidFill>
          <a:ln/>
        </p:spPr>
      </p:sp>
      <p:pic>
        <p:nvPicPr>
          <p:cNvPr id="14" name="Image 2" descr="assets/ic_layers_w.png">    </p:cNvPr>
          <p:cNvPicPr>
            <a:picLocks noChangeAspect="1"/>
          </p:cNvPicPr>
          <p:nvPr/>
        </p:nvPicPr>
        <p:blipFill>
          <a:blip r:embed="rId3"/>
          <a:stretch>
            <a:fillRect/>
          </a:stretch>
        </p:blipFill>
        <p:spPr>
          <a:xfrm>
            <a:off x="6571336" y="2281428"/>
            <a:ext cx="283464" cy="283464"/>
          </a:xfrm>
          <a:prstGeom prst="rect">
            <a:avLst/>
          </a:prstGeom>
        </p:spPr>
      </p:pic>
      <p:sp>
        <p:nvSpPr>
          <p:cNvPr id="15" name="Text 10"/>
          <p:cNvSpPr/>
          <p:nvPr/>
        </p:nvSpPr>
        <p:spPr>
          <a:xfrm>
            <a:off x="7078828" y="1965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Deep Learning</a:t>
            </a:r>
            <a:endParaRPr lang="en-US" sz="1450" dirty="0"/>
          </a:p>
        </p:txBody>
      </p:sp>
      <p:sp>
        <p:nvSpPr>
          <p:cNvPr id="16" name="Shape 11"/>
          <p:cNvSpPr/>
          <p:nvPr/>
        </p:nvSpPr>
        <p:spPr>
          <a:xfrm>
            <a:off x="8925916" y="1965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7" name="Shape 12"/>
          <p:cNvSpPr/>
          <p:nvPr/>
        </p:nvSpPr>
        <p:spPr>
          <a:xfrm>
            <a:off x="9145372" y="2139696"/>
            <a:ext cx="566928" cy="566928"/>
          </a:xfrm>
          <a:prstGeom prst="ellipse">
            <a:avLst/>
          </a:prstGeom>
          <a:solidFill>
            <a:srgbClr val="16B7B3"/>
          </a:solidFill>
          <a:ln/>
        </p:spPr>
      </p:sp>
      <p:pic>
        <p:nvPicPr>
          <p:cNvPr id="18" name="Image 3" descr="assets/ic_eye_w.png">    </p:cNvPr>
          <p:cNvPicPr>
            <a:picLocks noChangeAspect="1"/>
          </p:cNvPicPr>
          <p:nvPr/>
        </p:nvPicPr>
        <p:blipFill>
          <a:blip r:embed="rId4"/>
          <a:stretch>
            <a:fillRect/>
          </a:stretch>
        </p:blipFill>
        <p:spPr>
          <a:xfrm>
            <a:off x="9287104" y="2281428"/>
            <a:ext cx="283464" cy="283464"/>
          </a:xfrm>
          <a:prstGeom prst="rect">
            <a:avLst/>
          </a:prstGeom>
        </p:spPr>
      </p:pic>
      <p:sp>
        <p:nvSpPr>
          <p:cNvPr id="19" name="Text 13"/>
          <p:cNvSpPr/>
          <p:nvPr/>
        </p:nvSpPr>
        <p:spPr>
          <a:xfrm>
            <a:off x="9794596" y="1965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Computer Vision</a:t>
            </a:r>
            <a:endParaRPr lang="en-US" sz="1450" dirty="0"/>
          </a:p>
        </p:txBody>
      </p:sp>
      <p:sp>
        <p:nvSpPr>
          <p:cNvPr id="20" name="Shape 14"/>
          <p:cNvSpPr/>
          <p:nvPr/>
        </p:nvSpPr>
        <p:spPr>
          <a:xfrm>
            <a:off x="2136496" y="3108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21" name="Shape 15"/>
          <p:cNvSpPr/>
          <p:nvPr/>
        </p:nvSpPr>
        <p:spPr>
          <a:xfrm>
            <a:off x="2355952" y="3282696"/>
            <a:ext cx="566928" cy="566928"/>
          </a:xfrm>
          <a:prstGeom prst="ellipse">
            <a:avLst/>
          </a:prstGeom>
          <a:solidFill>
            <a:srgbClr val="16B7B3"/>
          </a:solidFill>
          <a:ln/>
        </p:spPr>
      </p:sp>
      <p:pic>
        <p:nvPicPr>
          <p:cNvPr id="22" name="Image 4" descr="assets/ic_spark_w.png">    </p:cNvPr>
          <p:cNvPicPr>
            <a:picLocks noChangeAspect="1"/>
          </p:cNvPicPr>
          <p:nvPr/>
        </p:nvPicPr>
        <p:blipFill>
          <a:blip r:embed="rId5"/>
          <a:stretch>
            <a:fillRect/>
          </a:stretch>
        </p:blipFill>
        <p:spPr>
          <a:xfrm>
            <a:off x="2497684" y="3424428"/>
            <a:ext cx="283464" cy="283464"/>
          </a:xfrm>
          <a:prstGeom prst="rect">
            <a:avLst/>
          </a:prstGeom>
        </p:spPr>
      </p:pic>
      <p:sp>
        <p:nvSpPr>
          <p:cNvPr id="23" name="Text 16"/>
          <p:cNvSpPr/>
          <p:nvPr/>
        </p:nvSpPr>
        <p:spPr>
          <a:xfrm>
            <a:off x="3005176" y="3108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Generative AI</a:t>
            </a:r>
            <a:endParaRPr lang="en-US" sz="1450" dirty="0"/>
          </a:p>
        </p:txBody>
      </p:sp>
      <p:sp>
        <p:nvSpPr>
          <p:cNvPr id="24" name="Shape 17"/>
          <p:cNvSpPr/>
          <p:nvPr/>
        </p:nvSpPr>
        <p:spPr>
          <a:xfrm>
            <a:off x="4852264" y="3108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25" name="Shape 18"/>
          <p:cNvSpPr/>
          <p:nvPr/>
        </p:nvSpPr>
        <p:spPr>
          <a:xfrm>
            <a:off x="5071720" y="3282696"/>
            <a:ext cx="566928" cy="566928"/>
          </a:xfrm>
          <a:prstGeom prst="ellipse">
            <a:avLst/>
          </a:prstGeom>
          <a:solidFill>
            <a:srgbClr val="16B7B3"/>
          </a:solidFill>
          <a:ln/>
        </p:spPr>
      </p:sp>
      <p:pic>
        <p:nvPicPr>
          <p:cNvPr id="26" name="Image 5" descr="assets/ic_robot_w.png">    </p:cNvPr>
          <p:cNvPicPr>
            <a:picLocks noChangeAspect="1"/>
          </p:cNvPicPr>
          <p:nvPr/>
        </p:nvPicPr>
        <p:blipFill>
          <a:blip r:embed="rId6"/>
          <a:stretch>
            <a:fillRect/>
          </a:stretch>
        </p:blipFill>
        <p:spPr>
          <a:xfrm>
            <a:off x="5213452" y="3424428"/>
            <a:ext cx="283464" cy="283464"/>
          </a:xfrm>
          <a:prstGeom prst="rect">
            <a:avLst/>
          </a:prstGeom>
        </p:spPr>
      </p:pic>
      <p:sp>
        <p:nvSpPr>
          <p:cNvPr id="27" name="Text 19"/>
          <p:cNvSpPr/>
          <p:nvPr/>
        </p:nvSpPr>
        <p:spPr>
          <a:xfrm>
            <a:off x="5720944" y="3108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AI Agents</a:t>
            </a:r>
            <a:endParaRPr lang="en-US" sz="1450" dirty="0"/>
          </a:p>
        </p:txBody>
      </p:sp>
      <p:sp>
        <p:nvSpPr>
          <p:cNvPr id="28" name="Shape 20"/>
          <p:cNvSpPr/>
          <p:nvPr/>
        </p:nvSpPr>
        <p:spPr>
          <a:xfrm>
            <a:off x="7568032" y="3108960"/>
            <a:ext cx="2487168" cy="914400"/>
          </a:xfrm>
          <a:prstGeom prst="roundRect">
            <a:avLst>
              <a:gd name="adj" fmla="val 1200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29" name="Shape 21"/>
          <p:cNvSpPr/>
          <p:nvPr/>
        </p:nvSpPr>
        <p:spPr>
          <a:xfrm>
            <a:off x="7787488" y="3282696"/>
            <a:ext cx="566928" cy="566928"/>
          </a:xfrm>
          <a:prstGeom prst="ellipse">
            <a:avLst/>
          </a:prstGeom>
          <a:solidFill>
            <a:srgbClr val="16B7B3"/>
          </a:solidFill>
          <a:ln/>
        </p:spPr>
      </p:sp>
      <p:pic>
        <p:nvPicPr>
          <p:cNvPr id="30" name="Image 6" descr="assets/ic_gear_w.png">    </p:cNvPr>
          <p:cNvPicPr>
            <a:picLocks noChangeAspect="1"/>
          </p:cNvPicPr>
          <p:nvPr/>
        </p:nvPicPr>
        <p:blipFill>
          <a:blip r:embed="rId7"/>
          <a:stretch>
            <a:fillRect/>
          </a:stretch>
        </p:blipFill>
        <p:spPr>
          <a:xfrm>
            <a:off x="7929220" y="3424428"/>
            <a:ext cx="283464" cy="283464"/>
          </a:xfrm>
          <a:prstGeom prst="rect">
            <a:avLst/>
          </a:prstGeom>
        </p:spPr>
      </p:pic>
      <p:sp>
        <p:nvSpPr>
          <p:cNvPr id="31" name="Text 22"/>
          <p:cNvSpPr/>
          <p:nvPr/>
        </p:nvSpPr>
        <p:spPr>
          <a:xfrm>
            <a:off x="8436712" y="3108960"/>
            <a:ext cx="1527048" cy="914400"/>
          </a:xfrm>
          <a:prstGeom prst="rect">
            <a:avLst/>
          </a:prstGeom>
          <a:noFill/>
          <a:ln/>
        </p:spPr>
        <p:txBody>
          <a:bodyPr wrap="square" lIns="0" tIns="0" rIns="0" bIns="0" rtlCol="0" anchor="ctr"/>
          <a:lstStyle/>
          <a:p>
            <a:pPr algn="l" indent="0" marL="0">
              <a:buNone/>
            </a:pPr>
            <a:r>
              <a:rPr lang="en-US" sz="1450" b="1" dirty="0">
                <a:solidFill>
                  <a:srgbClr val="1D2B2B"/>
                </a:solidFill>
                <a:latin typeface="Calibri" pitchFamily="34" charset="0"/>
                <a:ea typeface="Calibri" pitchFamily="34" charset="-122"/>
                <a:cs typeface="Calibri" pitchFamily="34" charset="-120"/>
              </a:rPr>
              <a:t>AI Automation</a:t>
            </a:r>
            <a:endParaRPr lang="en-US" sz="1450" dirty="0"/>
          </a:p>
        </p:txBody>
      </p:sp>
      <p:sp>
        <p:nvSpPr>
          <p:cNvPr id="32" name="Shape 23"/>
          <p:cNvSpPr/>
          <p:nvPr/>
        </p:nvSpPr>
        <p:spPr>
          <a:xfrm>
            <a:off x="1463040" y="4434840"/>
            <a:ext cx="9262872" cy="960120"/>
          </a:xfrm>
          <a:prstGeom prst="roundRect">
            <a:avLst>
              <a:gd name="adj" fmla="val 11429"/>
            </a:avLst>
          </a:prstGeom>
          <a:solidFill>
            <a:srgbClr val="0E3A3B"/>
          </a:solidFill>
          <a:ln/>
        </p:spPr>
      </p:sp>
      <p:sp>
        <p:nvSpPr>
          <p:cNvPr id="33" name="Text 24"/>
          <p:cNvSpPr/>
          <p:nvPr/>
        </p:nvSpPr>
        <p:spPr>
          <a:xfrm>
            <a:off x="1737360" y="4434840"/>
            <a:ext cx="8686800" cy="960120"/>
          </a:xfrm>
          <a:prstGeom prst="rect">
            <a:avLst/>
          </a:prstGeom>
          <a:noFill/>
          <a:ln/>
        </p:spPr>
        <p:txBody>
          <a:bodyPr wrap="square" rtlCol="0" anchor="ctr"/>
          <a:lstStyle/>
          <a:p>
            <a:pPr algn="ctr" indent="0" marL="0">
              <a:buNone/>
            </a:pPr>
            <a:r>
              <a:rPr lang="en-US" sz="1650" dirty="0">
                <a:solidFill>
                  <a:srgbClr val="FFFFFF"/>
                </a:solidFill>
                <a:latin typeface="Calibri" pitchFamily="34" charset="0"/>
                <a:ea typeface="Calibri" pitchFamily="34" charset="-122"/>
                <a:cs typeface="Calibri" pitchFamily="34" charset="-120"/>
              </a:rPr>
              <a:t>Every job you see next </a:t>
            </a:r>
            <a:pPr algn="ctr" indent="0" marL="0">
              <a:buNone/>
            </a:pPr>
            <a:r>
              <a:rPr lang="en-US" sz="1650" b="1" dirty="0">
                <a:solidFill>
                  <a:srgbClr val="16B7B3"/>
                </a:solidFill>
                <a:latin typeface="Calibri" pitchFamily="34" charset="0"/>
                <a:ea typeface="Calibri" pitchFamily="34" charset="-122"/>
                <a:cs typeface="Calibri" pitchFamily="34" charset="-120"/>
              </a:rPr>
              <a:t>simply mixes these same skills</a:t>
            </a:r>
            <a:pPr algn="ctr" indent="0" marL="0">
              <a:buNone/>
            </a:pPr>
            <a:r>
              <a:rPr lang="en-US" sz="1650" dirty="0">
                <a:solidFill>
                  <a:srgbClr val="FFFFFF"/>
                </a:solidFill>
                <a:latin typeface="Calibri" pitchFamily="34" charset="0"/>
                <a:ea typeface="Calibri" pitchFamily="34" charset="-122"/>
                <a:cs typeface="Calibri" pitchFamily="34" charset="-120"/>
              </a:rPr>
              <a:t> in a different way.</a:t>
            </a:r>
            <a:endParaRPr lang="en-US" sz="1650" dirty="0"/>
          </a:p>
        </p:txBody>
      </p:sp>
      <p:pic>
        <p:nvPicPr>
          <p:cNvPr id="34" name="Image 7" descr="assets/logo_teal_crop.png">    </p:cNvPr>
          <p:cNvPicPr>
            <a:picLocks noChangeAspect="1"/>
          </p:cNvPicPr>
          <p:nvPr/>
        </p:nvPicPr>
        <p:blipFill>
          <a:blip r:embed="rId8"/>
          <a:stretch>
            <a:fillRect/>
          </a:stretch>
        </p:blipFill>
        <p:spPr>
          <a:xfrm>
            <a:off x="548640" y="6419088"/>
            <a:ext cx="256032" cy="256032"/>
          </a:xfrm>
          <a:prstGeom prst="rect">
            <a:avLst/>
          </a:prstGeom>
        </p:spPr>
      </p:pic>
      <p:sp>
        <p:nvSpPr>
          <p:cNvPr id="35" name="Text 25"/>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36" name="Text 26"/>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Job Type 1: </a:t>
            </a:r>
            <a:pPr algn="l" indent="0" marL="0">
              <a:buNone/>
            </a:pPr>
            <a:r>
              <a:rPr lang="en-US" sz="3200" b="1" dirty="0">
                <a:solidFill>
                  <a:srgbClr val="0C7C79"/>
                </a:solidFill>
                <a:latin typeface="Calibri" pitchFamily="34" charset="0"/>
                <a:ea typeface="Calibri" pitchFamily="34" charset="-122"/>
                <a:cs typeface="Calibri" pitchFamily="34" charset="-120"/>
              </a:rPr>
              <a:t>Non Tech Companies</a:t>
            </a:r>
            <a:endParaRPr lang="en-US" sz="3200" dirty="0"/>
          </a:p>
        </p:txBody>
      </p:sp>
      <p:sp>
        <p:nvSpPr>
          <p:cNvPr id="3" name="Shape 1"/>
          <p:cNvSpPr/>
          <p:nvPr/>
        </p:nvSpPr>
        <p:spPr>
          <a:xfrm>
            <a:off x="548640" y="1783080"/>
            <a:ext cx="822960" cy="822960"/>
          </a:xfrm>
          <a:prstGeom prst="ellipse">
            <a:avLst/>
          </a:prstGeom>
          <a:solidFill>
            <a:srgbClr val="16B7B3"/>
          </a:solidFill>
          <a:ln/>
        </p:spPr>
      </p:sp>
      <p:pic>
        <p:nvPicPr>
          <p:cNvPr id="4" name="Image 0" descr="assets/ic_building_w.png">    </p:cNvPr>
          <p:cNvPicPr>
            <a:picLocks noChangeAspect="1"/>
          </p:cNvPicPr>
          <p:nvPr/>
        </p:nvPicPr>
        <p:blipFill>
          <a:blip r:embed="rId1"/>
          <a:stretch>
            <a:fillRect/>
          </a:stretch>
        </p:blipFill>
        <p:spPr>
          <a:xfrm>
            <a:off x="754380" y="1988820"/>
            <a:ext cx="411480" cy="411480"/>
          </a:xfrm>
          <a:prstGeom prst="rect">
            <a:avLst/>
          </a:prstGeom>
        </p:spPr>
      </p:pic>
      <p:sp>
        <p:nvSpPr>
          <p:cNvPr id="5" name="Text 2"/>
          <p:cNvSpPr/>
          <p:nvPr/>
        </p:nvSpPr>
        <p:spPr>
          <a:xfrm>
            <a:off x="1600200" y="1691640"/>
            <a:ext cx="566928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Everyday Businesses</a:t>
            </a:r>
            <a:endParaRPr lang="en-US" sz="1800" dirty="0"/>
          </a:p>
        </p:txBody>
      </p:sp>
      <p:sp>
        <p:nvSpPr>
          <p:cNvPr id="6" name="Text 3"/>
          <p:cNvSpPr/>
          <p:nvPr/>
        </p:nvSpPr>
        <p:spPr>
          <a:xfrm>
            <a:off x="1600200" y="2148840"/>
            <a:ext cx="5852160" cy="914400"/>
          </a:xfrm>
          <a:prstGeom prst="rect">
            <a:avLst/>
          </a:prstGeom>
          <a:noFill/>
          <a:ln/>
        </p:spPr>
        <p:txBody>
          <a:bodyPr wrap="square" lIns="0" tIns="0" rIns="0" bIns="0"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Think of supply chains, delivery, and physical products like Coca Cola, McDonalds, or Colgate.</a:t>
            </a:r>
            <a:endParaRPr lang="en-US" sz="1450" dirty="0"/>
          </a:p>
        </p:txBody>
      </p:sp>
      <p:sp>
        <p:nvSpPr>
          <p:cNvPr id="7" name="Shape 4"/>
          <p:cNvSpPr/>
          <p:nvPr/>
        </p:nvSpPr>
        <p:spPr>
          <a:xfrm>
            <a:off x="548640" y="3200400"/>
            <a:ext cx="822960" cy="822960"/>
          </a:xfrm>
          <a:prstGeom prst="ellipse">
            <a:avLst/>
          </a:prstGeom>
          <a:solidFill>
            <a:srgbClr val="16B7B3"/>
          </a:solidFill>
          <a:ln/>
        </p:spPr>
      </p:sp>
      <p:pic>
        <p:nvPicPr>
          <p:cNvPr id="8" name="Image 1" descr="assets/ic_factory_w.png">    </p:cNvPr>
          <p:cNvPicPr>
            <a:picLocks noChangeAspect="1"/>
          </p:cNvPicPr>
          <p:nvPr/>
        </p:nvPicPr>
        <p:blipFill>
          <a:blip r:embed="rId2"/>
          <a:stretch>
            <a:fillRect/>
          </a:stretch>
        </p:blipFill>
        <p:spPr>
          <a:xfrm>
            <a:off x="754380" y="3406140"/>
            <a:ext cx="411480" cy="411480"/>
          </a:xfrm>
          <a:prstGeom prst="rect">
            <a:avLst/>
          </a:prstGeom>
        </p:spPr>
      </p:pic>
      <p:sp>
        <p:nvSpPr>
          <p:cNvPr id="9" name="Text 5"/>
          <p:cNvSpPr/>
          <p:nvPr/>
        </p:nvSpPr>
        <p:spPr>
          <a:xfrm>
            <a:off x="1600200" y="3108960"/>
            <a:ext cx="566928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Not Built on Software</a:t>
            </a:r>
            <a:endParaRPr lang="en-US" sz="1800" dirty="0"/>
          </a:p>
        </p:txBody>
      </p:sp>
      <p:sp>
        <p:nvSpPr>
          <p:cNvPr id="10" name="Text 6"/>
          <p:cNvSpPr/>
          <p:nvPr/>
        </p:nvSpPr>
        <p:spPr>
          <a:xfrm>
            <a:off x="1600200" y="3566160"/>
            <a:ext cx="5852160" cy="914400"/>
          </a:xfrm>
          <a:prstGeom prst="rect">
            <a:avLst/>
          </a:prstGeom>
          <a:noFill/>
          <a:ln/>
        </p:spPr>
        <p:txBody>
          <a:bodyPr wrap="square" lIns="0" tIns="0" rIns="0" bIns="0"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Banks, shops, and building companies. Their main work is not making software.</a:t>
            </a:r>
            <a:endParaRPr lang="en-US" sz="1450" dirty="0"/>
          </a:p>
        </p:txBody>
      </p:sp>
      <p:sp>
        <p:nvSpPr>
          <p:cNvPr id="11" name="Shape 7"/>
          <p:cNvSpPr/>
          <p:nvPr/>
        </p:nvSpPr>
        <p:spPr>
          <a:xfrm>
            <a:off x="548640" y="4617720"/>
            <a:ext cx="822960" cy="822960"/>
          </a:xfrm>
          <a:prstGeom prst="ellipse">
            <a:avLst/>
          </a:prstGeom>
          <a:solidFill>
            <a:srgbClr val="16B7B3"/>
          </a:solidFill>
          <a:ln/>
        </p:spPr>
      </p:sp>
      <p:pic>
        <p:nvPicPr>
          <p:cNvPr id="12" name="Image 2" descr="assets/ic_trend_w.png">    </p:cNvPr>
          <p:cNvPicPr>
            <a:picLocks noChangeAspect="1"/>
          </p:cNvPicPr>
          <p:nvPr/>
        </p:nvPicPr>
        <p:blipFill>
          <a:blip r:embed="rId3"/>
          <a:stretch>
            <a:fillRect/>
          </a:stretch>
        </p:blipFill>
        <p:spPr>
          <a:xfrm>
            <a:off x="754380" y="4823460"/>
            <a:ext cx="411480" cy="411480"/>
          </a:xfrm>
          <a:prstGeom prst="rect">
            <a:avLst/>
          </a:prstGeom>
        </p:spPr>
      </p:pic>
      <p:sp>
        <p:nvSpPr>
          <p:cNvPr id="13" name="Text 8"/>
          <p:cNvSpPr/>
          <p:nvPr/>
        </p:nvSpPr>
        <p:spPr>
          <a:xfrm>
            <a:off x="1600200" y="4526280"/>
            <a:ext cx="566928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Why They Need You</a:t>
            </a:r>
            <a:endParaRPr lang="en-US" sz="1800" dirty="0"/>
          </a:p>
        </p:txBody>
      </p:sp>
      <p:sp>
        <p:nvSpPr>
          <p:cNvPr id="14" name="Text 9"/>
          <p:cNvSpPr/>
          <p:nvPr/>
        </p:nvSpPr>
        <p:spPr>
          <a:xfrm>
            <a:off x="1600200" y="4983480"/>
            <a:ext cx="5852160" cy="914400"/>
          </a:xfrm>
          <a:prstGeom prst="rect">
            <a:avLst/>
          </a:prstGeom>
          <a:noFill/>
          <a:ln/>
        </p:spPr>
        <p:txBody>
          <a:bodyPr wrap="square" lIns="0" tIns="0" rIns="0" bIns="0"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They still need data experts to grow sales, guess demand, and track deliveries.</a:t>
            </a:r>
            <a:endParaRPr lang="en-US" sz="1450" dirty="0"/>
          </a:p>
        </p:txBody>
      </p:sp>
      <p:sp>
        <p:nvSpPr>
          <p:cNvPr id="15" name="Shape 10"/>
          <p:cNvSpPr/>
          <p:nvPr/>
        </p:nvSpPr>
        <p:spPr>
          <a:xfrm>
            <a:off x="7955280" y="1691640"/>
            <a:ext cx="3657600" cy="4206240"/>
          </a:xfrm>
          <a:prstGeom prst="roundRect">
            <a:avLst>
              <a:gd name="adj" fmla="val 3000"/>
            </a:avLst>
          </a:prstGeom>
          <a:solidFill>
            <a:srgbClr val="0E3A3B"/>
          </a:solidFill>
          <a:ln/>
          <a:effectLst>
            <a:outerShdw sx="100000" sy="100000" kx="0" ky="0" algn="bl" rotWithShape="0" blurRad="127000" dist="38100" dir="5400000">
              <a:srgbClr val="0E3A3B">
                <a:alpha val="10000"/>
              </a:srgbClr>
            </a:outerShdw>
          </a:effectLst>
        </p:spPr>
      </p:sp>
      <p:sp>
        <p:nvSpPr>
          <p:cNvPr id="16" name="Shape 11"/>
          <p:cNvSpPr/>
          <p:nvPr/>
        </p:nvSpPr>
        <p:spPr>
          <a:xfrm>
            <a:off x="9098280" y="2194560"/>
            <a:ext cx="1371600" cy="1371600"/>
          </a:xfrm>
          <a:prstGeom prst="ellipse">
            <a:avLst/>
          </a:prstGeom>
          <a:solidFill>
            <a:srgbClr val="12504E"/>
          </a:solidFill>
          <a:ln/>
        </p:spPr>
      </p:sp>
      <p:pic>
        <p:nvPicPr>
          <p:cNvPr id="17" name="Image 3" descr="assets/ic_bars_w.png">    </p:cNvPr>
          <p:cNvPicPr>
            <a:picLocks noChangeAspect="1"/>
          </p:cNvPicPr>
          <p:nvPr/>
        </p:nvPicPr>
        <p:blipFill>
          <a:blip r:embed="rId4"/>
          <a:stretch>
            <a:fillRect/>
          </a:stretch>
        </p:blipFill>
        <p:spPr>
          <a:xfrm>
            <a:off x="9441180" y="2537460"/>
            <a:ext cx="685800" cy="685800"/>
          </a:xfrm>
          <a:prstGeom prst="rect">
            <a:avLst/>
          </a:prstGeom>
        </p:spPr>
      </p:pic>
      <p:sp>
        <p:nvSpPr>
          <p:cNvPr id="18" name="Text 12"/>
          <p:cNvSpPr/>
          <p:nvPr/>
        </p:nvSpPr>
        <p:spPr>
          <a:xfrm>
            <a:off x="8229600" y="3886200"/>
            <a:ext cx="3108960" cy="365760"/>
          </a:xfrm>
          <a:prstGeom prst="rect">
            <a:avLst/>
          </a:prstGeom>
          <a:noFill/>
          <a:ln/>
        </p:spPr>
        <p:txBody>
          <a:bodyPr wrap="square" rtlCol="0" anchor="ctr"/>
          <a:lstStyle/>
          <a:p>
            <a:pPr algn="ctr" indent="0" marL="0">
              <a:buNone/>
            </a:pPr>
            <a:r>
              <a:rPr lang="en-US" sz="1400" b="1" dirty="0">
                <a:solidFill>
                  <a:srgbClr val="16B7B3"/>
                </a:solidFill>
                <a:latin typeface="Calibri" pitchFamily="34" charset="0"/>
                <a:ea typeface="Calibri" pitchFamily="34" charset="-122"/>
                <a:cs typeface="Calibri" pitchFamily="34" charset="-120"/>
              </a:rPr>
              <a:t>Main skills here</a:t>
            </a:r>
            <a:endParaRPr lang="en-US" sz="1400" dirty="0"/>
          </a:p>
        </p:txBody>
      </p:sp>
      <p:sp>
        <p:nvSpPr>
          <p:cNvPr id="19" name="Text 13"/>
          <p:cNvSpPr/>
          <p:nvPr/>
        </p:nvSpPr>
        <p:spPr>
          <a:xfrm>
            <a:off x="8229600" y="4297680"/>
            <a:ext cx="3108960" cy="1280160"/>
          </a:xfrm>
          <a:prstGeom prst="rect">
            <a:avLst/>
          </a:prstGeom>
          <a:noFill/>
          <a:ln/>
        </p:spPr>
        <p:txBody>
          <a:bodyPr wrap="square" rtlCol="0" anchor="t"/>
          <a:lstStyle/>
          <a:p>
            <a:pPr algn="ctr" indent="0" marL="0">
              <a:lnSpc>
                <a:spcPct val="115000"/>
              </a:lnSpc>
              <a:buNone/>
            </a:pPr>
            <a:r>
              <a:rPr lang="en-US" sz="1700" dirty="0">
                <a:solidFill>
                  <a:srgbClr val="FFFFFF"/>
                </a:solidFill>
                <a:latin typeface="Calibri" pitchFamily="34" charset="0"/>
                <a:ea typeface="Calibri" pitchFamily="34" charset="-122"/>
                <a:cs typeface="Calibri" pitchFamily="34" charset="-120"/>
              </a:rPr>
              <a:t>Data Analytics and simple Machine Learning</a:t>
            </a:r>
            <a:endParaRPr lang="en-US" sz="1700" dirty="0"/>
          </a:p>
        </p:txBody>
      </p:sp>
      <p:pic>
        <p:nvPicPr>
          <p:cNvPr id="20" name="Image 4" descr="assets/logo_teal_crop.png">    </p:cNvPr>
          <p:cNvPicPr>
            <a:picLocks noChangeAspect="1"/>
          </p:cNvPicPr>
          <p:nvPr/>
        </p:nvPicPr>
        <p:blipFill>
          <a:blip r:embed="rId5"/>
          <a:stretch>
            <a:fillRect/>
          </a:stretch>
        </p:blipFill>
        <p:spPr>
          <a:xfrm>
            <a:off x="548640" y="6419088"/>
            <a:ext cx="256032" cy="256032"/>
          </a:xfrm>
          <a:prstGeom prst="rect">
            <a:avLst/>
          </a:prstGeom>
        </p:spPr>
      </p:pic>
      <p:sp>
        <p:nvSpPr>
          <p:cNvPr id="21" name="Text 14"/>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2" name="Text 15"/>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Job Type 2: </a:t>
            </a:r>
            <a:pPr algn="l" indent="0" marL="0">
              <a:buNone/>
            </a:pPr>
            <a:r>
              <a:rPr lang="en-US" sz="3200" b="1" dirty="0">
                <a:solidFill>
                  <a:srgbClr val="0C7C79"/>
                </a:solidFill>
                <a:latin typeface="Calibri" pitchFamily="34" charset="0"/>
                <a:ea typeface="Calibri" pitchFamily="34" charset="-122"/>
                <a:cs typeface="Calibri" pitchFamily="34" charset="-120"/>
              </a:rPr>
              <a:t>Tech Giants</a:t>
            </a:r>
            <a:endParaRPr lang="en-US" sz="3200" dirty="0"/>
          </a:p>
        </p:txBody>
      </p:sp>
      <p:sp>
        <p:nvSpPr>
          <p:cNvPr id="3" name="Shape 1"/>
          <p:cNvSpPr/>
          <p:nvPr/>
        </p:nvSpPr>
        <p:spPr>
          <a:xfrm>
            <a:off x="548640" y="1691640"/>
            <a:ext cx="3657600" cy="4206240"/>
          </a:xfrm>
          <a:prstGeom prst="roundRect">
            <a:avLst>
              <a:gd name="adj" fmla="val 3000"/>
            </a:avLst>
          </a:prstGeom>
          <a:solidFill>
            <a:srgbClr val="0E3A3B"/>
          </a:solidFill>
          <a:ln/>
          <a:effectLst>
            <a:outerShdw sx="100000" sy="100000" kx="0" ky="0" algn="bl" rotWithShape="0" blurRad="127000" dist="38100" dir="5400000">
              <a:srgbClr val="0E3A3B">
                <a:alpha val="10000"/>
              </a:srgbClr>
            </a:outerShdw>
          </a:effectLst>
        </p:spPr>
      </p:sp>
      <p:sp>
        <p:nvSpPr>
          <p:cNvPr id="4" name="Shape 2"/>
          <p:cNvSpPr/>
          <p:nvPr/>
        </p:nvSpPr>
        <p:spPr>
          <a:xfrm>
            <a:off x="1691640" y="2194560"/>
            <a:ext cx="1371600" cy="1371600"/>
          </a:xfrm>
          <a:prstGeom prst="ellipse">
            <a:avLst/>
          </a:prstGeom>
          <a:solidFill>
            <a:srgbClr val="12504E"/>
          </a:solidFill>
          <a:ln/>
        </p:spPr>
      </p:sp>
      <p:pic>
        <p:nvPicPr>
          <p:cNvPr id="5" name="Image 0" descr="assets/ic_globe_w.png">    </p:cNvPr>
          <p:cNvPicPr>
            <a:picLocks noChangeAspect="1"/>
          </p:cNvPicPr>
          <p:nvPr/>
        </p:nvPicPr>
        <p:blipFill>
          <a:blip r:embed="rId1"/>
          <a:stretch>
            <a:fillRect/>
          </a:stretch>
        </p:blipFill>
        <p:spPr>
          <a:xfrm>
            <a:off x="2034540" y="2537460"/>
            <a:ext cx="685800" cy="685800"/>
          </a:xfrm>
          <a:prstGeom prst="rect">
            <a:avLst/>
          </a:prstGeom>
        </p:spPr>
      </p:pic>
      <p:sp>
        <p:nvSpPr>
          <p:cNvPr id="6" name="Text 3"/>
          <p:cNvSpPr/>
          <p:nvPr/>
        </p:nvSpPr>
        <p:spPr>
          <a:xfrm>
            <a:off x="822960" y="3886200"/>
            <a:ext cx="3108960" cy="365760"/>
          </a:xfrm>
          <a:prstGeom prst="rect">
            <a:avLst/>
          </a:prstGeom>
          <a:noFill/>
          <a:ln/>
        </p:spPr>
        <p:txBody>
          <a:bodyPr wrap="square" rtlCol="0" anchor="ctr"/>
          <a:lstStyle/>
          <a:p>
            <a:pPr algn="ctr" indent="0" marL="0">
              <a:buNone/>
            </a:pPr>
            <a:r>
              <a:rPr lang="en-US" sz="1600" b="1" dirty="0">
                <a:solidFill>
                  <a:srgbClr val="16B7B3"/>
                </a:solidFill>
                <a:latin typeface="Calibri" pitchFamily="34" charset="0"/>
                <a:ea typeface="Calibri" pitchFamily="34" charset="-122"/>
                <a:cs typeface="Calibri" pitchFamily="34" charset="-120"/>
              </a:rPr>
              <a:t>Building Tech Products</a:t>
            </a:r>
            <a:endParaRPr lang="en-US" sz="1600" dirty="0"/>
          </a:p>
        </p:txBody>
      </p:sp>
      <p:sp>
        <p:nvSpPr>
          <p:cNvPr id="7" name="Text 4"/>
          <p:cNvSpPr/>
          <p:nvPr/>
        </p:nvSpPr>
        <p:spPr>
          <a:xfrm>
            <a:off x="822960" y="4297680"/>
            <a:ext cx="3108960" cy="1280160"/>
          </a:xfrm>
          <a:prstGeom prst="rect">
            <a:avLst/>
          </a:prstGeom>
          <a:noFill/>
          <a:ln/>
        </p:spPr>
        <p:txBody>
          <a:bodyPr wrap="square" rtlCol="0" anchor="t"/>
          <a:lstStyle/>
          <a:p>
            <a:pPr algn="ctr" indent="0" marL="0">
              <a:lnSpc>
                <a:spcPct val="115000"/>
              </a:lnSpc>
              <a:buNone/>
            </a:pPr>
            <a:r>
              <a:rPr lang="en-US" sz="1600" dirty="0">
                <a:solidFill>
                  <a:srgbClr val="FFFFFF"/>
                </a:solidFill>
                <a:latin typeface="Calibri" pitchFamily="34" charset="0"/>
                <a:ea typeface="Calibri" pitchFamily="34" charset="-122"/>
                <a:cs typeface="Calibri" pitchFamily="34" charset="-120"/>
              </a:rPr>
              <a:t>Google, Microsoft, Meta, Amazon, and OpenAI</a:t>
            </a:r>
            <a:endParaRPr lang="en-US" sz="1600" dirty="0"/>
          </a:p>
        </p:txBody>
      </p:sp>
      <p:sp>
        <p:nvSpPr>
          <p:cNvPr id="8" name="Shape 5"/>
          <p:cNvSpPr/>
          <p:nvPr/>
        </p:nvSpPr>
        <p:spPr>
          <a:xfrm>
            <a:off x="4640580" y="1805940"/>
            <a:ext cx="777240" cy="777240"/>
          </a:xfrm>
          <a:prstGeom prst="ellipse">
            <a:avLst/>
          </a:prstGeom>
          <a:solidFill>
            <a:srgbClr val="16B7B3"/>
          </a:solidFill>
          <a:ln/>
        </p:spPr>
      </p:sp>
      <p:pic>
        <p:nvPicPr>
          <p:cNvPr id="9" name="Image 1" descr="assets/ic_code_w.png">    </p:cNvPr>
          <p:cNvPicPr>
            <a:picLocks noChangeAspect="1"/>
          </p:cNvPicPr>
          <p:nvPr/>
        </p:nvPicPr>
        <p:blipFill>
          <a:blip r:embed="rId2"/>
          <a:stretch>
            <a:fillRect/>
          </a:stretch>
        </p:blipFill>
        <p:spPr>
          <a:xfrm>
            <a:off x="4834890" y="2000250"/>
            <a:ext cx="388620" cy="388620"/>
          </a:xfrm>
          <a:prstGeom prst="rect">
            <a:avLst/>
          </a:prstGeom>
        </p:spPr>
      </p:pic>
      <p:sp>
        <p:nvSpPr>
          <p:cNvPr id="10" name="Text 6"/>
          <p:cNvSpPr/>
          <p:nvPr/>
        </p:nvSpPr>
        <p:spPr>
          <a:xfrm>
            <a:off x="5623560" y="1691640"/>
            <a:ext cx="603504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You build the real thing</a:t>
            </a:r>
            <a:endParaRPr lang="en-US" sz="1800" dirty="0"/>
          </a:p>
        </p:txBody>
      </p:sp>
      <p:sp>
        <p:nvSpPr>
          <p:cNvPr id="11" name="Text 7"/>
          <p:cNvSpPr/>
          <p:nvPr/>
        </p:nvSpPr>
        <p:spPr>
          <a:xfrm>
            <a:off x="5623560" y="2176272"/>
            <a:ext cx="6126480" cy="1143000"/>
          </a:xfrm>
          <a:prstGeom prst="rect">
            <a:avLst/>
          </a:prstGeom>
          <a:noFill/>
          <a:ln/>
        </p:spPr>
        <p:txBody>
          <a:bodyPr wrap="square" lIns="0" tIns="0" rIns="0" bIns="0" rtlCol="0" anchor="t"/>
          <a:lstStyle/>
          <a:p>
            <a:pPr indent="0" marL="0">
              <a:lnSpc>
                <a:spcPct val="118000"/>
              </a:lnSpc>
              <a:buNone/>
            </a:pPr>
            <a:r>
              <a:rPr lang="en-US" sz="1450" dirty="0">
                <a:solidFill>
                  <a:srgbClr val="5F7373"/>
                </a:solidFill>
                <a:latin typeface="Calibri" pitchFamily="34" charset="0"/>
                <a:ea typeface="Calibri" pitchFamily="34" charset="-122"/>
                <a:cs typeface="Calibri" pitchFamily="34" charset="-120"/>
              </a:rPr>
              <a:t>Here your job is to build the software, AI tools, and products that millions of people use every day.</a:t>
            </a:r>
            <a:endParaRPr lang="en-US" sz="1450" dirty="0"/>
          </a:p>
        </p:txBody>
      </p:sp>
      <p:sp>
        <p:nvSpPr>
          <p:cNvPr id="12" name="Shape 8"/>
          <p:cNvSpPr/>
          <p:nvPr/>
        </p:nvSpPr>
        <p:spPr>
          <a:xfrm>
            <a:off x="4640580" y="3543300"/>
            <a:ext cx="777240" cy="777240"/>
          </a:xfrm>
          <a:prstGeom prst="ellipse">
            <a:avLst/>
          </a:prstGeom>
          <a:solidFill>
            <a:srgbClr val="16B7B3"/>
          </a:solidFill>
          <a:ln/>
        </p:spPr>
      </p:sp>
      <p:pic>
        <p:nvPicPr>
          <p:cNvPr id="13" name="Image 2" descr="assets/ic_bars_w.png">    </p:cNvPr>
          <p:cNvPicPr>
            <a:picLocks noChangeAspect="1"/>
          </p:cNvPicPr>
          <p:nvPr/>
        </p:nvPicPr>
        <p:blipFill>
          <a:blip r:embed="rId3"/>
          <a:stretch>
            <a:fillRect/>
          </a:stretch>
        </p:blipFill>
        <p:spPr>
          <a:xfrm>
            <a:off x="4834890" y="3737610"/>
            <a:ext cx="388620" cy="388620"/>
          </a:xfrm>
          <a:prstGeom prst="rect">
            <a:avLst/>
          </a:prstGeom>
        </p:spPr>
      </p:pic>
      <p:sp>
        <p:nvSpPr>
          <p:cNvPr id="14" name="Text 9"/>
          <p:cNvSpPr/>
          <p:nvPr/>
        </p:nvSpPr>
        <p:spPr>
          <a:xfrm>
            <a:off x="5623560" y="3429000"/>
            <a:ext cx="603504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Data Scientists matter too</a:t>
            </a:r>
            <a:endParaRPr lang="en-US" sz="1800" dirty="0"/>
          </a:p>
        </p:txBody>
      </p:sp>
      <p:sp>
        <p:nvSpPr>
          <p:cNvPr id="15" name="Text 10"/>
          <p:cNvSpPr/>
          <p:nvPr/>
        </p:nvSpPr>
        <p:spPr>
          <a:xfrm>
            <a:off x="5623560" y="3913632"/>
            <a:ext cx="6126480" cy="1143000"/>
          </a:xfrm>
          <a:prstGeom prst="rect">
            <a:avLst/>
          </a:prstGeom>
          <a:noFill/>
          <a:ln/>
        </p:spPr>
        <p:txBody>
          <a:bodyPr wrap="square" lIns="0" tIns="0" rIns="0" bIns="0" rtlCol="0" anchor="t"/>
          <a:lstStyle/>
          <a:p>
            <a:pPr indent="0" marL="0">
              <a:lnSpc>
                <a:spcPct val="118000"/>
              </a:lnSpc>
              <a:buNone/>
            </a:pPr>
            <a:r>
              <a:rPr lang="en-US" sz="1450" dirty="0">
                <a:solidFill>
                  <a:srgbClr val="5F7373"/>
                </a:solidFill>
                <a:latin typeface="Calibri" pitchFamily="34" charset="0"/>
                <a:ea typeface="Calibri" pitchFamily="34" charset="-122"/>
                <a:cs typeface="Calibri" pitchFamily="34" charset="-120"/>
              </a:rPr>
              <a:t>When they launch a new product or add a new feature, data scientists study the data to see how people use it and what to make better.</a:t>
            </a:r>
            <a:endParaRPr lang="en-US" sz="1450" dirty="0"/>
          </a:p>
        </p:txBody>
      </p:sp>
      <p:sp>
        <p:nvSpPr>
          <p:cNvPr id="16" name="Shape 11"/>
          <p:cNvSpPr/>
          <p:nvPr/>
        </p:nvSpPr>
        <p:spPr>
          <a:xfrm>
            <a:off x="5029200" y="5257800"/>
            <a:ext cx="6611112" cy="658368"/>
          </a:xfrm>
          <a:prstGeom prst="roundRect">
            <a:avLst>
              <a:gd name="adj" fmla="val 13889"/>
            </a:avLst>
          </a:prstGeom>
          <a:solidFill>
            <a:srgbClr val="F1FAFA"/>
          </a:solidFill>
          <a:ln w="12700">
            <a:solidFill>
              <a:srgbClr val="D7EBEB"/>
            </a:solidFill>
            <a:prstDash val="solid"/>
          </a:ln>
        </p:spPr>
      </p:sp>
      <p:sp>
        <p:nvSpPr>
          <p:cNvPr id="17" name="Text 12"/>
          <p:cNvSpPr/>
          <p:nvPr/>
        </p:nvSpPr>
        <p:spPr>
          <a:xfrm>
            <a:off x="5257800" y="5257800"/>
            <a:ext cx="6217920" cy="658368"/>
          </a:xfrm>
          <a:prstGeom prst="rect">
            <a:avLst/>
          </a:prstGeom>
          <a:noFill/>
          <a:ln/>
        </p:spPr>
        <p:txBody>
          <a:bodyPr wrap="square" lIns="0" tIns="0" rIns="0" bIns="0" rtlCol="0" anchor="ctr"/>
          <a:lstStyle/>
          <a:p>
            <a:pPr indent="0" marL="0">
              <a:buNone/>
            </a:pPr>
            <a:r>
              <a:rPr lang="en-US" sz="1350" b="1" dirty="0">
                <a:solidFill>
                  <a:srgbClr val="0C7C79"/>
                </a:solidFill>
                <a:latin typeface="Calibri" pitchFamily="34" charset="0"/>
                <a:ea typeface="Calibri" pitchFamily="34" charset="-122"/>
                <a:cs typeface="Calibri" pitchFamily="34" charset="-120"/>
              </a:rPr>
              <a:t>Common roles:  </a:t>
            </a:r>
            <a:pPr indent="0" marL="0">
              <a:buNone/>
            </a:pPr>
            <a:r>
              <a:rPr lang="en-US" sz="1350" dirty="0">
                <a:solidFill>
                  <a:srgbClr val="1D2B2B"/>
                </a:solidFill>
                <a:latin typeface="Calibri" pitchFamily="34" charset="0"/>
                <a:ea typeface="Calibri" pitchFamily="34" charset="-122"/>
                <a:cs typeface="Calibri" pitchFamily="34" charset="-120"/>
              </a:rPr>
              <a:t>ML Engineer, AI Engineer, Data Scientist, Research Scientist</a:t>
            </a:r>
            <a:endParaRPr lang="en-US" sz="1350" dirty="0"/>
          </a:p>
        </p:txBody>
      </p:sp>
      <p:pic>
        <p:nvPicPr>
          <p:cNvPr id="18" name="Image 3" descr="assets/logo_teal_crop.png">    </p:cNvPr>
          <p:cNvPicPr>
            <a:picLocks noChangeAspect="1"/>
          </p:cNvPicPr>
          <p:nvPr/>
        </p:nvPicPr>
        <p:blipFill>
          <a:blip r:embed="rId4"/>
          <a:stretch>
            <a:fillRect/>
          </a:stretch>
        </p:blipFill>
        <p:spPr>
          <a:xfrm>
            <a:off x="548640" y="6419088"/>
            <a:ext cx="256032" cy="256032"/>
          </a:xfrm>
          <a:prstGeom prst="rect">
            <a:avLst/>
          </a:prstGeom>
        </p:spPr>
      </p:pic>
      <p:sp>
        <p:nvSpPr>
          <p:cNvPr id="19" name="Text 13"/>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0" name="Text 14"/>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Job Type 3: </a:t>
            </a:r>
            <a:pPr algn="l" indent="0" marL="0">
              <a:buNone/>
            </a:pPr>
            <a:r>
              <a:rPr lang="en-US" sz="3200" b="1" dirty="0">
                <a:solidFill>
                  <a:srgbClr val="0C7C79"/>
                </a:solidFill>
                <a:latin typeface="Calibri" pitchFamily="34" charset="0"/>
                <a:ea typeface="Calibri" pitchFamily="34" charset="-122"/>
                <a:cs typeface="Calibri" pitchFamily="34" charset="-120"/>
              </a:rPr>
              <a:t>Services Companies</a:t>
            </a:r>
            <a:endParaRPr lang="en-US" sz="3200" dirty="0"/>
          </a:p>
        </p:txBody>
      </p:sp>
      <p:sp>
        <p:nvSpPr>
          <p:cNvPr id="3" name="Text 1"/>
          <p:cNvSpPr/>
          <p:nvPr/>
        </p:nvSpPr>
        <p:spPr>
          <a:xfrm>
            <a:off x="548640" y="1188720"/>
            <a:ext cx="11064240" cy="777240"/>
          </a:xfrm>
          <a:prstGeom prst="rect">
            <a:avLst/>
          </a:prstGeom>
          <a:noFill/>
          <a:ln/>
        </p:spPr>
        <p:txBody>
          <a:bodyPr wrap="square"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These are one stop shop companies like Techsole, Devsinc, and Xeven Solutions. They build every kind of AI service, from Machine Learning to AI Automation. Inside them you find many special roles:</a:t>
            </a:r>
            <a:endParaRPr lang="en-US" sz="1450" dirty="0"/>
          </a:p>
        </p:txBody>
      </p:sp>
      <p:sp>
        <p:nvSpPr>
          <p:cNvPr id="4" name="Shape 2"/>
          <p:cNvSpPr/>
          <p:nvPr/>
        </p:nvSpPr>
        <p:spPr>
          <a:xfrm>
            <a:off x="630936" y="2157984"/>
            <a:ext cx="658368" cy="658368"/>
          </a:xfrm>
          <a:prstGeom prst="ellipse">
            <a:avLst/>
          </a:prstGeom>
          <a:solidFill>
            <a:srgbClr val="16B7B3"/>
          </a:solidFill>
          <a:ln/>
        </p:spPr>
      </p:sp>
      <p:pic>
        <p:nvPicPr>
          <p:cNvPr id="5" name="Image 0" descr="assets/ic_gear_w.png">    </p:cNvPr>
          <p:cNvPicPr>
            <a:picLocks noChangeAspect="1"/>
          </p:cNvPicPr>
          <p:nvPr/>
        </p:nvPicPr>
        <p:blipFill>
          <a:blip r:embed="rId1"/>
          <a:stretch>
            <a:fillRect/>
          </a:stretch>
        </p:blipFill>
        <p:spPr>
          <a:xfrm>
            <a:off x="795528" y="2322576"/>
            <a:ext cx="329184" cy="329184"/>
          </a:xfrm>
          <a:prstGeom prst="rect">
            <a:avLst/>
          </a:prstGeom>
        </p:spPr>
      </p:pic>
      <p:sp>
        <p:nvSpPr>
          <p:cNvPr id="6" name="Text 3"/>
          <p:cNvSpPr/>
          <p:nvPr/>
        </p:nvSpPr>
        <p:spPr>
          <a:xfrm>
            <a:off x="1463040" y="2121408"/>
            <a:ext cx="3200400" cy="731520"/>
          </a:xfrm>
          <a:prstGeom prst="rect">
            <a:avLst/>
          </a:prstGeom>
          <a:noFill/>
          <a:ln/>
        </p:spPr>
        <p:txBody>
          <a:bodyPr wrap="square" lIns="0" tIns="0" rIns="0" bIns="0" rtlCol="0" anchor="ctr"/>
          <a:lstStyle/>
          <a:p>
            <a:pPr indent="0" marL="0">
              <a:lnSpc>
                <a:spcPct val="100000"/>
              </a:lnSpc>
              <a:buNone/>
            </a:pPr>
            <a:r>
              <a:rPr lang="en-US" sz="1550" b="1" dirty="0">
                <a:solidFill>
                  <a:srgbClr val="1D2B2B"/>
                </a:solidFill>
                <a:latin typeface="Calibri" pitchFamily="34" charset="0"/>
                <a:ea typeface="Calibri" pitchFamily="34" charset="-122"/>
                <a:cs typeface="Calibri" pitchFamily="34" charset="-120"/>
              </a:rPr>
              <a:t>AI Automation Engineer   </a:t>
            </a:r>
            <a:endParaRPr lang="en-US" sz="1550" dirty="0"/>
          </a:p>
        </p:txBody>
      </p:sp>
      <p:sp>
        <p:nvSpPr>
          <p:cNvPr id="7" name="Text 4"/>
          <p:cNvSpPr/>
          <p:nvPr/>
        </p:nvSpPr>
        <p:spPr>
          <a:xfrm>
            <a:off x="4754880" y="2121408"/>
            <a:ext cx="6858000" cy="731520"/>
          </a:xfrm>
          <a:prstGeom prst="rect">
            <a:avLst/>
          </a:prstGeom>
          <a:noFill/>
          <a:ln/>
        </p:spPr>
        <p:txBody>
          <a:bodyPr wrap="square" lIns="0" tIns="0" rIns="0" bIns="0" rtlCol="0" anchor="ctr"/>
          <a:lstStyle/>
          <a:p>
            <a:pPr indent="0" marL="0">
              <a:lnSpc>
                <a:spcPct val="110000"/>
              </a:lnSpc>
              <a:buNone/>
            </a:pPr>
            <a:r>
              <a:rPr lang="en-US" sz="1400" dirty="0">
                <a:solidFill>
                  <a:srgbClr val="5F7373"/>
                </a:solidFill>
                <a:latin typeface="Calibri" pitchFamily="34" charset="0"/>
                <a:ea typeface="Calibri" pitchFamily="34" charset="-122"/>
                <a:cs typeface="Calibri" pitchFamily="34" charset="-120"/>
              </a:rPr>
              <a:t>Sets up systems that do repeat work on their own, saving time and money.</a:t>
            </a:r>
            <a:endParaRPr lang="en-US" sz="1400" dirty="0"/>
          </a:p>
        </p:txBody>
      </p:sp>
      <p:sp>
        <p:nvSpPr>
          <p:cNvPr id="8" name="Shape 5"/>
          <p:cNvSpPr/>
          <p:nvPr/>
        </p:nvSpPr>
        <p:spPr>
          <a:xfrm>
            <a:off x="630936" y="2999232"/>
            <a:ext cx="658368" cy="658368"/>
          </a:xfrm>
          <a:prstGeom prst="ellipse">
            <a:avLst/>
          </a:prstGeom>
          <a:solidFill>
            <a:srgbClr val="16B7B3"/>
          </a:solidFill>
          <a:ln/>
        </p:spPr>
      </p:sp>
      <p:pic>
        <p:nvPicPr>
          <p:cNvPr id="9" name="Image 1" descr="assets/ic_eye_w.png">    </p:cNvPr>
          <p:cNvPicPr>
            <a:picLocks noChangeAspect="1"/>
          </p:cNvPicPr>
          <p:nvPr/>
        </p:nvPicPr>
        <p:blipFill>
          <a:blip r:embed="rId2"/>
          <a:stretch>
            <a:fillRect/>
          </a:stretch>
        </p:blipFill>
        <p:spPr>
          <a:xfrm>
            <a:off x="795528" y="3163824"/>
            <a:ext cx="329184" cy="329184"/>
          </a:xfrm>
          <a:prstGeom prst="rect">
            <a:avLst/>
          </a:prstGeom>
        </p:spPr>
      </p:pic>
      <p:sp>
        <p:nvSpPr>
          <p:cNvPr id="10" name="Text 6"/>
          <p:cNvSpPr/>
          <p:nvPr/>
        </p:nvSpPr>
        <p:spPr>
          <a:xfrm>
            <a:off x="1463040" y="2962656"/>
            <a:ext cx="3200400" cy="731520"/>
          </a:xfrm>
          <a:prstGeom prst="rect">
            <a:avLst/>
          </a:prstGeom>
          <a:noFill/>
          <a:ln/>
        </p:spPr>
        <p:txBody>
          <a:bodyPr wrap="square" lIns="0" tIns="0" rIns="0" bIns="0" rtlCol="0" anchor="ctr"/>
          <a:lstStyle/>
          <a:p>
            <a:pPr indent="0" marL="0">
              <a:lnSpc>
                <a:spcPct val="100000"/>
              </a:lnSpc>
              <a:buNone/>
            </a:pPr>
            <a:r>
              <a:rPr lang="en-US" sz="1550" b="1" dirty="0">
                <a:solidFill>
                  <a:srgbClr val="1D2B2B"/>
                </a:solidFill>
                <a:latin typeface="Calibri" pitchFamily="34" charset="0"/>
                <a:ea typeface="Calibri" pitchFamily="34" charset="-122"/>
                <a:cs typeface="Calibri" pitchFamily="34" charset="-120"/>
              </a:rPr>
              <a:t>Computer Vision Engineer   </a:t>
            </a:r>
            <a:endParaRPr lang="en-US" sz="1550" dirty="0"/>
          </a:p>
        </p:txBody>
      </p:sp>
      <p:sp>
        <p:nvSpPr>
          <p:cNvPr id="11" name="Text 7"/>
          <p:cNvSpPr/>
          <p:nvPr/>
        </p:nvSpPr>
        <p:spPr>
          <a:xfrm>
            <a:off x="4754880" y="2962656"/>
            <a:ext cx="6858000" cy="731520"/>
          </a:xfrm>
          <a:prstGeom prst="rect">
            <a:avLst/>
          </a:prstGeom>
          <a:noFill/>
          <a:ln/>
        </p:spPr>
        <p:txBody>
          <a:bodyPr wrap="square" lIns="0" tIns="0" rIns="0" bIns="0" rtlCol="0" anchor="ctr"/>
          <a:lstStyle/>
          <a:p>
            <a:pPr indent="0" marL="0">
              <a:lnSpc>
                <a:spcPct val="110000"/>
              </a:lnSpc>
              <a:buNone/>
            </a:pPr>
            <a:r>
              <a:rPr lang="en-US" sz="1400" dirty="0">
                <a:solidFill>
                  <a:srgbClr val="5F7373"/>
                </a:solidFill>
                <a:latin typeface="Calibri" pitchFamily="34" charset="0"/>
                <a:ea typeface="Calibri" pitchFamily="34" charset="-122"/>
                <a:cs typeface="Calibri" pitchFamily="34" charset="-120"/>
              </a:rPr>
              <a:t>Builds tools that can see, like number plate reading and object tracking.</a:t>
            </a:r>
            <a:endParaRPr lang="en-US" sz="1400" dirty="0"/>
          </a:p>
        </p:txBody>
      </p:sp>
      <p:sp>
        <p:nvSpPr>
          <p:cNvPr id="12" name="Shape 8"/>
          <p:cNvSpPr/>
          <p:nvPr/>
        </p:nvSpPr>
        <p:spPr>
          <a:xfrm>
            <a:off x="630936" y="3840480"/>
            <a:ext cx="658368" cy="658368"/>
          </a:xfrm>
          <a:prstGeom prst="ellipse">
            <a:avLst/>
          </a:prstGeom>
          <a:solidFill>
            <a:srgbClr val="16B7B3"/>
          </a:solidFill>
          <a:ln/>
        </p:spPr>
      </p:sp>
      <p:pic>
        <p:nvPicPr>
          <p:cNvPr id="13" name="Image 2" descr="assets/ic_chip_w.png">    </p:cNvPr>
          <p:cNvPicPr>
            <a:picLocks noChangeAspect="1"/>
          </p:cNvPicPr>
          <p:nvPr/>
        </p:nvPicPr>
        <p:blipFill>
          <a:blip r:embed="rId3"/>
          <a:stretch>
            <a:fillRect/>
          </a:stretch>
        </p:blipFill>
        <p:spPr>
          <a:xfrm>
            <a:off x="795528" y="4005072"/>
            <a:ext cx="329184" cy="329184"/>
          </a:xfrm>
          <a:prstGeom prst="rect">
            <a:avLst/>
          </a:prstGeom>
        </p:spPr>
      </p:pic>
      <p:sp>
        <p:nvSpPr>
          <p:cNvPr id="14" name="Text 9"/>
          <p:cNvSpPr/>
          <p:nvPr/>
        </p:nvSpPr>
        <p:spPr>
          <a:xfrm>
            <a:off x="1463040" y="3803904"/>
            <a:ext cx="3200400" cy="731520"/>
          </a:xfrm>
          <a:prstGeom prst="rect">
            <a:avLst/>
          </a:prstGeom>
          <a:noFill/>
          <a:ln/>
        </p:spPr>
        <p:txBody>
          <a:bodyPr wrap="square" lIns="0" tIns="0" rIns="0" bIns="0" rtlCol="0" anchor="ctr"/>
          <a:lstStyle/>
          <a:p>
            <a:pPr indent="0" marL="0">
              <a:lnSpc>
                <a:spcPct val="100000"/>
              </a:lnSpc>
              <a:buNone/>
            </a:pPr>
            <a:r>
              <a:rPr lang="en-US" sz="1550" b="1" dirty="0">
                <a:solidFill>
                  <a:srgbClr val="1D2B2B"/>
                </a:solidFill>
                <a:latin typeface="Calibri" pitchFamily="34" charset="0"/>
                <a:ea typeface="Calibri" pitchFamily="34" charset="-122"/>
                <a:cs typeface="Calibri" pitchFamily="34" charset="-120"/>
              </a:rPr>
              <a:t>Machine Learning Engineer   </a:t>
            </a:r>
            <a:endParaRPr lang="en-US" sz="1550" dirty="0"/>
          </a:p>
        </p:txBody>
      </p:sp>
      <p:sp>
        <p:nvSpPr>
          <p:cNvPr id="15" name="Text 10"/>
          <p:cNvSpPr/>
          <p:nvPr/>
        </p:nvSpPr>
        <p:spPr>
          <a:xfrm>
            <a:off x="4754880" y="3803904"/>
            <a:ext cx="6858000" cy="731520"/>
          </a:xfrm>
          <a:prstGeom prst="rect">
            <a:avLst/>
          </a:prstGeom>
          <a:noFill/>
          <a:ln/>
        </p:spPr>
        <p:txBody>
          <a:bodyPr wrap="square" lIns="0" tIns="0" rIns="0" bIns="0" rtlCol="0" anchor="ctr"/>
          <a:lstStyle/>
          <a:p>
            <a:pPr indent="0" marL="0">
              <a:lnSpc>
                <a:spcPct val="110000"/>
              </a:lnSpc>
              <a:buNone/>
            </a:pPr>
            <a:r>
              <a:rPr lang="en-US" sz="1400" dirty="0">
                <a:solidFill>
                  <a:srgbClr val="5F7373"/>
                </a:solidFill>
                <a:latin typeface="Calibri" pitchFamily="34" charset="0"/>
                <a:ea typeface="Calibri" pitchFamily="34" charset="-122"/>
                <a:cs typeface="Calibri" pitchFamily="34" charset="-120"/>
              </a:rPr>
              <a:t>Builds, trains, and launches smart models that make predictions.</a:t>
            </a:r>
            <a:endParaRPr lang="en-US" sz="1400" dirty="0"/>
          </a:p>
        </p:txBody>
      </p:sp>
      <p:sp>
        <p:nvSpPr>
          <p:cNvPr id="16" name="Shape 11"/>
          <p:cNvSpPr/>
          <p:nvPr/>
        </p:nvSpPr>
        <p:spPr>
          <a:xfrm>
            <a:off x="630936" y="4681728"/>
            <a:ext cx="658368" cy="658368"/>
          </a:xfrm>
          <a:prstGeom prst="ellipse">
            <a:avLst/>
          </a:prstGeom>
          <a:solidFill>
            <a:srgbClr val="16B7B3"/>
          </a:solidFill>
          <a:ln/>
        </p:spPr>
      </p:sp>
      <p:pic>
        <p:nvPicPr>
          <p:cNvPr id="17" name="Image 3" descr="assets/ic_spark_w.png">    </p:cNvPr>
          <p:cNvPicPr>
            <a:picLocks noChangeAspect="1"/>
          </p:cNvPicPr>
          <p:nvPr/>
        </p:nvPicPr>
        <p:blipFill>
          <a:blip r:embed="rId4"/>
          <a:stretch>
            <a:fillRect/>
          </a:stretch>
        </p:blipFill>
        <p:spPr>
          <a:xfrm>
            <a:off x="795528" y="4846320"/>
            <a:ext cx="329184" cy="329184"/>
          </a:xfrm>
          <a:prstGeom prst="rect">
            <a:avLst/>
          </a:prstGeom>
        </p:spPr>
      </p:pic>
      <p:sp>
        <p:nvSpPr>
          <p:cNvPr id="18" name="Text 12"/>
          <p:cNvSpPr/>
          <p:nvPr/>
        </p:nvSpPr>
        <p:spPr>
          <a:xfrm>
            <a:off x="1463040" y="4645152"/>
            <a:ext cx="3200400" cy="731520"/>
          </a:xfrm>
          <a:prstGeom prst="rect">
            <a:avLst/>
          </a:prstGeom>
          <a:noFill/>
          <a:ln/>
        </p:spPr>
        <p:txBody>
          <a:bodyPr wrap="square" lIns="0" tIns="0" rIns="0" bIns="0" rtlCol="0" anchor="ctr"/>
          <a:lstStyle/>
          <a:p>
            <a:pPr indent="0" marL="0">
              <a:lnSpc>
                <a:spcPct val="100000"/>
              </a:lnSpc>
              <a:buNone/>
            </a:pPr>
            <a:r>
              <a:rPr lang="en-US" sz="1550" b="1" dirty="0">
                <a:solidFill>
                  <a:srgbClr val="1D2B2B"/>
                </a:solidFill>
                <a:latin typeface="Calibri" pitchFamily="34" charset="0"/>
                <a:ea typeface="Calibri" pitchFamily="34" charset="-122"/>
                <a:cs typeface="Calibri" pitchFamily="34" charset="-120"/>
              </a:rPr>
              <a:t>Generative AI Engineer   </a:t>
            </a:r>
            <a:endParaRPr lang="en-US" sz="1550" dirty="0"/>
          </a:p>
        </p:txBody>
      </p:sp>
      <p:sp>
        <p:nvSpPr>
          <p:cNvPr id="19" name="Text 13"/>
          <p:cNvSpPr/>
          <p:nvPr/>
        </p:nvSpPr>
        <p:spPr>
          <a:xfrm>
            <a:off x="4754880" y="4645152"/>
            <a:ext cx="6858000" cy="731520"/>
          </a:xfrm>
          <a:prstGeom prst="rect">
            <a:avLst/>
          </a:prstGeom>
          <a:noFill/>
          <a:ln/>
        </p:spPr>
        <p:txBody>
          <a:bodyPr wrap="square" lIns="0" tIns="0" rIns="0" bIns="0" rtlCol="0" anchor="ctr"/>
          <a:lstStyle/>
          <a:p>
            <a:pPr indent="0" marL="0">
              <a:lnSpc>
                <a:spcPct val="110000"/>
              </a:lnSpc>
              <a:buNone/>
            </a:pPr>
            <a:r>
              <a:rPr lang="en-US" sz="1400" dirty="0">
                <a:solidFill>
                  <a:srgbClr val="5F7373"/>
                </a:solidFill>
                <a:latin typeface="Calibri" pitchFamily="34" charset="0"/>
                <a:ea typeface="Calibri" pitchFamily="34" charset="-122"/>
                <a:cs typeface="Calibri" pitchFamily="34" charset="-120"/>
              </a:rPr>
              <a:t>Makes chatbots and AI agents that can talk, write, and help people.</a:t>
            </a:r>
            <a:endParaRPr lang="en-US" sz="1400" dirty="0"/>
          </a:p>
        </p:txBody>
      </p:sp>
      <p:sp>
        <p:nvSpPr>
          <p:cNvPr id="20" name="Shape 14"/>
          <p:cNvSpPr/>
          <p:nvPr/>
        </p:nvSpPr>
        <p:spPr>
          <a:xfrm>
            <a:off x="630936" y="5522976"/>
            <a:ext cx="658368" cy="658368"/>
          </a:xfrm>
          <a:prstGeom prst="ellipse">
            <a:avLst/>
          </a:prstGeom>
          <a:solidFill>
            <a:srgbClr val="16B7B3"/>
          </a:solidFill>
          <a:ln/>
        </p:spPr>
      </p:sp>
      <p:pic>
        <p:nvPicPr>
          <p:cNvPr id="21" name="Image 4" descr="assets/ic_code_w.png">    </p:cNvPr>
          <p:cNvPicPr>
            <a:picLocks noChangeAspect="1"/>
          </p:cNvPicPr>
          <p:nvPr/>
        </p:nvPicPr>
        <p:blipFill>
          <a:blip r:embed="rId5"/>
          <a:stretch>
            <a:fillRect/>
          </a:stretch>
        </p:blipFill>
        <p:spPr>
          <a:xfrm>
            <a:off x="795528" y="5687568"/>
            <a:ext cx="329184" cy="329184"/>
          </a:xfrm>
          <a:prstGeom prst="rect">
            <a:avLst/>
          </a:prstGeom>
        </p:spPr>
      </p:pic>
      <p:sp>
        <p:nvSpPr>
          <p:cNvPr id="22" name="Text 15"/>
          <p:cNvSpPr/>
          <p:nvPr/>
        </p:nvSpPr>
        <p:spPr>
          <a:xfrm>
            <a:off x="1463040" y="5486400"/>
            <a:ext cx="3200400" cy="731520"/>
          </a:xfrm>
          <a:prstGeom prst="rect">
            <a:avLst/>
          </a:prstGeom>
          <a:noFill/>
          <a:ln/>
        </p:spPr>
        <p:txBody>
          <a:bodyPr wrap="square" lIns="0" tIns="0" rIns="0" bIns="0" rtlCol="0" anchor="ctr"/>
          <a:lstStyle/>
          <a:p>
            <a:pPr indent="0" marL="0">
              <a:lnSpc>
                <a:spcPct val="100000"/>
              </a:lnSpc>
              <a:buNone/>
            </a:pPr>
            <a:r>
              <a:rPr lang="en-US" sz="1550" b="1" dirty="0">
                <a:solidFill>
                  <a:srgbClr val="1D2B2B"/>
                </a:solidFill>
                <a:latin typeface="Calibri" pitchFamily="34" charset="0"/>
                <a:ea typeface="Calibri" pitchFamily="34" charset="-122"/>
                <a:cs typeface="Calibri" pitchFamily="34" charset="-120"/>
              </a:rPr>
              <a:t>Full Stack Developer   </a:t>
            </a:r>
            <a:endParaRPr lang="en-US" sz="1550" dirty="0"/>
          </a:p>
        </p:txBody>
      </p:sp>
      <p:sp>
        <p:nvSpPr>
          <p:cNvPr id="23" name="Text 16"/>
          <p:cNvSpPr/>
          <p:nvPr/>
        </p:nvSpPr>
        <p:spPr>
          <a:xfrm>
            <a:off x="4754880" y="5486400"/>
            <a:ext cx="6858000" cy="731520"/>
          </a:xfrm>
          <a:prstGeom prst="rect">
            <a:avLst/>
          </a:prstGeom>
          <a:noFill/>
          <a:ln/>
        </p:spPr>
        <p:txBody>
          <a:bodyPr wrap="square" lIns="0" tIns="0" rIns="0" bIns="0" rtlCol="0" anchor="ctr"/>
          <a:lstStyle/>
          <a:p>
            <a:pPr indent="0" marL="0">
              <a:lnSpc>
                <a:spcPct val="110000"/>
              </a:lnSpc>
              <a:buNone/>
            </a:pPr>
            <a:r>
              <a:rPr lang="en-US" sz="1400" dirty="0">
                <a:solidFill>
                  <a:srgbClr val="5F7373"/>
                </a:solidFill>
                <a:latin typeface="Calibri" pitchFamily="34" charset="0"/>
                <a:ea typeface="Calibri" pitchFamily="34" charset="-122"/>
                <a:cs typeface="Calibri" pitchFamily="34" charset="-120"/>
              </a:rPr>
              <a:t>Puts the AI inside real websites and apps that people can use.</a:t>
            </a:r>
            <a:endParaRPr lang="en-US" sz="1400" dirty="0"/>
          </a:p>
        </p:txBody>
      </p:sp>
      <p:pic>
        <p:nvPicPr>
          <p:cNvPr id="24" name="Image 5" descr="assets/logo_teal_crop.png">    </p:cNvPr>
          <p:cNvPicPr>
            <a:picLocks noChangeAspect="1"/>
          </p:cNvPicPr>
          <p:nvPr/>
        </p:nvPicPr>
        <p:blipFill>
          <a:blip r:embed="rId6"/>
          <a:stretch>
            <a:fillRect/>
          </a:stretch>
        </p:blipFill>
        <p:spPr>
          <a:xfrm>
            <a:off x="548640" y="6419088"/>
            <a:ext cx="256032" cy="256032"/>
          </a:xfrm>
          <a:prstGeom prst="rect">
            <a:avLst/>
          </a:prstGeom>
        </p:spPr>
      </p:pic>
      <p:sp>
        <p:nvSpPr>
          <p:cNvPr id="25" name="Text 17"/>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6" name="Text 18"/>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Job Type 4: </a:t>
            </a:r>
            <a:pPr algn="l" indent="0" marL="0">
              <a:buNone/>
            </a:pPr>
            <a:r>
              <a:rPr lang="en-US" sz="3200" b="1" dirty="0">
                <a:solidFill>
                  <a:srgbClr val="0C7C79"/>
                </a:solidFill>
                <a:latin typeface="Calibri" pitchFamily="34" charset="0"/>
                <a:ea typeface="Calibri" pitchFamily="34" charset="-122"/>
                <a:cs typeface="Calibri" pitchFamily="34" charset="-120"/>
              </a:rPr>
              <a:t>The Freelance Path</a:t>
            </a:r>
            <a:endParaRPr lang="en-US" sz="3200" dirty="0"/>
          </a:p>
        </p:txBody>
      </p:sp>
      <p:sp>
        <p:nvSpPr>
          <p:cNvPr id="3" name="Shape 1"/>
          <p:cNvSpPr/>
          <p:nvPr/>
        </p:nvSpPr>
        <p:spPr>
          <a:xfrm>
            <a:off x="822960" y="1920240"/>
            <a:ext cx="3566160" cy="3566160"/>
          </a:xfrm>
          <a:prstGeom prst="ellipse">
            <a:avLst/>
          </a:prstGeom>
          <a:solidFill>
            <a:srgbClr val="0E3A3B"/>
          </a:solidFill>
          <a:ln/>
        </p:spPr>
      </p:sp>
      <p:sp>
        <p:nvSpPr>
          <p:cNvPr id="4" name="Shape 2"/>
          <p:cNvSpPr/>
          <p:nvPr/>
        </p:nvSpPr>
        <p:spPr>
          <a:xfrm>
            <a:off x="1828800" y="2926080"/>
            <a:ext cx="1554480" cy="1554480"/>
          </a:xfrm>
          <a:prstGeom prst="ellipse">
            <a:avLst/>
          </a:prstGeom>
          <a:solidFill>
            <a:srgbClr val="12504E"/>
          </a:solidFill>
          <a:ln/>
        </p:spPr>
      </p:sp>
      <p:pic>
        <p:nvPicPr>
          <p:cNvPr id="5" name="Image 0" descr="assets/ic_laptop_w.png">    </p:cNvPr>
          <p:cNvPicPr>
            <a:picLocks noChangeAspect="1"/>
          </p:cNvPicPr>
          <p:nvPr/>
        </p:nvPicPr>
        <p:blipFill>
          <a:blip r:embed="rId1"/>
          <a:stretch>
            <a:fillRect/>
          </a:stretch>
        </p:blipFill>
        <p:spPr>
          <a:xfrm>
            <a:off x="2217420" y="3314700"/>
            <a:ext cx="777240" cy="777240"/>
          </a:xfrm>
          <a:prstGeom prst="rect">
            <a:avLst/>
          </a:prstGeom>
        </p:spPr>
      </p:pic>
      <p:sp>
        <p:nvSpPr>
          <p:cNvPr id="6" name="Text 3"/>
          <p:cNvSpPr/>
          <p:nvPr/>
        </p:nvSpPr>
        <p:spPr>
          <a:xfrm>
            <a:off x="5029200" y="1965960"/>
            <a:ext cx="6583680" cy="548640"/>
          </a:xfrm>
          <a:prstGeom prst="rect">
            <a:avLst/>
          </a:prstGeom>
          <a:noFill/>
          <a:ln/>
        </p:spPr>
        <p:txBody>
          <a:bodyPr wrap="square" lIns="0" tIns="0" rIns="0" bIns="0" rtlCol="0" anchor="ctr"/>
          <a:lstStyle/>
          <a:p>
            <a:pPr indent="0" marL="0">
              <a:buNone/>
            </a:pPr>
            <a:r>
              <a:rPr lang="en-US" sz="2400" b="1" dirty="0">
                <a:solidFill>
                  <a:srgbClr val="0C7C79"/>
                </a:solidFill>
                <a:latin typeface="Calibri" pitchFamily="34" charset="0"/>
                <a:ea typeface="Calibri" pitchFamily="34" charset="-122"/>
                <a:cs typeface="Calibri" pitchFamily="34" charset="-120"/>
              </a:rPr>
              <a:t>Be Your Own Boss</a:t>
            </a:r>
            <a:endParaRPr lang="en-US" sz="2400" dirty="0"/>
          </a:p>
        </p:txBody>
      </p:sp>
      <p:sp>
        <p:nvSpPr>
          <p:cNvPr id="7" name="Text 4"/>
          <p:cNvSpPr/>
          <p:nvPr/>
        </p:nvSpPr>
        <p:spPr>
          <a:xfrm>
            <a:off x="5029200" y="2651760"/>
            <a:ext cx="6583680" cy="1005840"/>
          </a:xfrm>
          <a:prstGeom prst="rect">
            <a:avLst/>
          </a:prstGeom>
          <a:noFill/>
          <a:ln/>
        </p:spPr>
        <p:txBody>
          <a:bodyPr wrap="square" lIns="0" tIns="0" rIns="0" bIns="0" rtlCol="0" anchor="t"/>
          <a:lstStyle/>
          <a:p>
            <a:pPr indent="0" marL="0">
              <a:lnSpc>
                <a:spcPct val="125000"/>
              </a:lnSpc>
              <a:buNone/>
            </a:pPr>
            <a:r>
              <a:rPr lang="en-US" sz="1600" dirty="0">
                <a:solidFill>
                  <a:srgbClr val="1D2B2B"/>
                </a:solidFill>
                <a:latin typeface="Calibri" pitchFamily="34" charset="0"/>
                <a:ea typeface="Calibri" pitchFamily="34" charset="-122"/>
                <a:cs typeface="Calibri" pitchFamily="34" charset="-120"/>
              </a:rPr>
              <a:t>In freelancing you take on projects with your own skills and get paid straight away. Every project is fresh and exciting.</a:t>
            </a:r>
            <a:endParaRPr lang="en-US" sz="1600" dirty="0"/>
          </a:p>
        </p:txBody>
      </p:sp>
      <p:sp>
        <p:nvSpPr>
          <p:cNvPr id="8" name="Text 5"/>
          <p:cNvSpPr/>
          <p:nvPr/>
        </p:nvSpPr>
        <p:spPr>
          <a:xfrm>
            <a:off x="5029200" y="3657600"/>
            <a:ext cx="6583680" cy="1005840"/>
          </a:xfrm>
          <a:prstGeom prst="rect">
            <a:avLst/>
          </a:prstGeom>
          <a:noFill/>
          <a:ln/>
        </p:spPr>
        <p:txBody>
          <a:bodyPr wrap="square" lIns="0" tIns="0" rIns="0" bIns="0" rtlCol="0" anchor="t"/>
          <a:lstStyle/>
          <a:p>
            <a:pPr indent="0" marL="0">
              <a:lnSpc>
                <a:spcPct val="125000"/>
              </a:lnSpc>
              <a:buNone/>
            </a:pPr>
            <a:r>
              <a:rPr lang="en-US" sz="1600" dirty="0">
                <a:solidFill>
                  <a:srgbClr val="1D2B2B"/>
                </a:solidFill>
                <a:latin typeface="Calibri" pitchFamily="34" charset="0"/>
                <a:ea typeface="Calibri" pitchFamily="34" charset="-122"/>
                <a:cs typeface="Calibri" pitchFamily="34" charset="-120"/>
              </a:rPr>
              <a:t>Your clients can be anyone, from small startups and governments to everyday companies that need a quick custom solution.</a:t>
            </a:r>
            <a:endParaRPr lang="en-US" sz="1600" dirty="0"/>
          </a:p>
        </p:txBody>
      </p:sp>
      <p:sp>
        <p:nvSpPr>
          <p:cNvPr id="9" name="Shape 6"/>
          <p:cNvSpPr/>
          <p:nvPr/>
        </p:nvSpPr>
        <p:spPr>
          <a:xfrm>
            <a:off x="5029200" y="4800600"/>
            <a:ext cx="6583680" cy="713232"/>
          </a:xfrm>
          <a:prstGeom prst="roundRect">
            <a:avLst>
              <a:gd name="adj" fmla="val 12821"/>
            </a:avLst>
          </a:prstGeom>
          <a:solidFill>
            <a:srgbClr val="F1FAFA"/>
          </a:solidFill>
          <a:ln w="12700">
            <a:solidFill>
              <a:srgbClr val="D7EBEB"/>
            </a:solidFill>
            <a:prstDash val="solid"/>
          </a:ln>
        </p:spPr>
      </p:sp>
      <p:sp>
        <p:nvSpPr>
          <p:cNvPr id="10" name="Text 7"/>
          <p:cNvSpPr/>
          <p:nvPr/>
        </p:nvSpPr>
        <p:spPr>
          <a:xfrm>
            <a:off x="5257800" y="4800600"/>
            <a:ext cx="6217920" cy="713232"/>
          </a:xfrm>
          <a:prstGeom prst="rect">
            <a:avLst/>
          </a:prstGeom>
          <a:noFill/>
          <a:ln/>
        </p:spPr>
        <p:txBody>
          <a:bodyPr wrap="square" lIns="0" tIns="0" rIns="0" bIns="0" rtlCol="0" anchor="ctr"/>
          <a:lstStyle/>
          <a:p>
            <a:pPr indent="0" marL="0">
              <a:buNone/>
            </a:pPr>
            <a:r>
              <a:rPr lang="en-US" sz="1400" b="1" dirty="0">
                <a:solidFill>
                  <a:srgbClr val="0C7C79"/>
                </a:solidFill>
                <a:latin typeface="Calibri" pitchFamily="34" charset="0"/>
                <a:ea typeface="Calibri" pitchFamily="34" charset="-122"/>
                <a:cs typeface="Calibri" pitchFamily="34" charset="-120"/>
              </a:rPr>
              <a:t>Popular work:  </a:t>
            </a:r>
            <a:pPr indent="0" marL="0">
              <a:buNone/>
            </a:pPr>
            <a:r>
              <a:rPr lang="en-US" sz="1400" dirty="0">
                <a:solidFill>
                  <a:srgbClr val="1D2B2B"/>
                </a:solidFill>
                <a:latin typeface="Calibri" pitchFamily="34" charset="0"/>
                <a:ea typeface="Calibri" pitchFamily="34" charset="-122"/>
                <a:cs typeface="Calibri" pitchFamily="34" charset="-120"/>
              </a:rPr>
              <a:t>chatbots, automation, data analysis, and computer vision tools</a:t>
            </a:r>
            <a:endParaRPr lang="en-US" sz="1400" dirty="0"/>
          </a:p>
        </p:txBody>
      </p:sp>
      <p:pic>
        <p:nvPicPr>
          <p:cNvPr id="11" name="Image 1" descr="assets/logo_teal_crop.png">    </p:cNvPr>
          <p:cNvPicPr>
            <a:picLocks noChangeAspect="1"/>
          </p:cNvPicPr>
          <p:nvPr/>
        </p:nvPicPr>
        <p:blipFill>
          <a:blip r:embed="rId2"/>
          <a:stretch>
            <a:fillRect/>
          </a:stretch>
        </p:blipFill>
        <p:spPr>
          <a:xfrm>
            <a:off x="548640" y="6419088"/>
            <a:ext cx="256032" cy="256032"/>
          </a:xfrm>
          <a:prstGeom prst="rect">
            <a:avLst/>
          </a:prstGeom>
        </p:spPr>
      </p:pic>
      <p:sp>
        <p:nvSpPr>
          <p:cNvPr id="12" name="Text 8"/>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13" name="Text 9"/>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More </a:t>
            </a:r>
            <a:pPr algn="l" indent="0" marL="0">
              <a:buNone/>
            </a:pPr>
            <a:r>
              <a:rPr lang="en-US" sz="3200" b="1" dirty="0">
                <a:solidFill>
                  <a:srgbClr val="0C7C79"/>
                </a:solidFill>
                <a:latin typeface="Calibri" pitchFamily="34" charset="0"/>
                <a:ea typeface="Calibri" pitchFamily="34" charset="-122"/>
                <a:cs typeface="Calibri" pitchFamily="34" charset="-120"/>
              </a:rPr>
              <a:t>Paths You Can Take</a:t>
            </a:r>
            <a:endParaRPr lang="en-US" sz="3200" dirty="0"/>
          </a:p>
        </p:txBody>
      </p:sp>
      <p:sp>
        <p:nvSpPr>
          <p:cNvPr id="3" name="Shape 1"/>
          <p:cNvSpPr/>
          <p:nvPr/>
        </p:nvSpPr>
        <p:spPr>
          <a:xfrm>
            <a:off x="548640" y="1600200"/>
            <a:ext cx="5330952" cy="1965960"/>
          </a:xfrm>
          <a:prstGeom prst="roundRect">
            <a:avLst>
              <a:gd name="adj" fmla="val 5581"/>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4" name="Shape 2"/>
          <p:cNvSpPr/>
          <p:nvPr/>
        </p:nvSpPr>
        <p:spPr>
          <a:xfrm>
            <a:off x="1005840" y="1965960"/>
            <a:ext cx="822960" cy="822960"/>
          </a:xfrm>
          <a:prstGeom prst="ellipse">
            <a:avLst/>
          </a:prstGeom>
          <a:solidFill>
            <a:srgbClr val="16B7B3"/>
          </a:solidFill>
          <a:ln/>
        </p:spPr>
      </p:sp>
      <p:pic>
        <p:nvPicPr>
          <p:cNvPr id="5" name="Image 0" descr="assets/ic_rocket_w.png">    </p:cNvPr>
          <p:cNvPicPr>
            <a:picLocks noChangeAspect="1"/>
          </p:cNvPicPr>
          <p:nvPr/>
        </p:nvPicPr>
        <p:blipFill>
          <a:blip r:embed="rId1"/>
          <a:stretch>
            <a:fillRect/>
          </a:stretch>
        </p:blipFill>
        <p:spPr>
          <a:xfrm>
            <a:off x="1211580" y="2171700"/>
            <a:ext cx="411480" cy="411480"/>
          </a:xfrm>
          <a:prstGeom prst="rect">
            <a:avLst/>
          </a:prstGeom>
        </p:spPr>
      </p:pic>
      <p:sp>
        <p:nvSpPr>
          <p:cNvPr id="6" name="Text 3"/>
          <p:cNvSpPr/>
          <p:nvPr/>
        </p:nvSpPr>
        <p:spPr>
          <a:xfrm>
            <a:off x="1965960" y="1920240"/>
            <a:ext cx="3685032" cy="822960"/>
          </a:xfrm>
          <a:prstGeom prst="rect">
            <a:avLst/>
          </a:prstGeom>
          <a:noFill/>
          <a:ln/>
        </p:spPr>
        <p:txBody>
          <a:bodyPr wrap="square" lIns="0" tIns="0" rIns="0" bIns="0" rtlCol="0" anchor="ctr"/>
          <a:lstStyle/>
          <a:p>
            <a:pPr indent="0" marL="0">
              <a:lnSpc>
                <a:spcPct val="100000"/>
              </a:lnSpc>
              <a:buNone/>
            </a:pPr>
            <a:r>
              <a:rPr lang="en-US" sz="1750" b="1" dirty="0">
                <a:solidFill>
                  <a:srgbClr val="0C7C79"/>
                </a:solidFill>
                <a:latin typeface="Calibri" pitchFamily="34" charset="0"/>
                <a:ea typeface="Calibri" pitchFamily="34" charset="-122"/>
                <a:cs typeface="Calibri" pitchFamily="34" charset="-120"/>
              </a:rPr>
              <a:t>Startups</a:t>
            </a:r>
            <a:endParaRPr lang="en-US" sz="1750" dirty="0"/>
          </a:p>
        </p:txBody>
      </p:sp>
      <p:sp>
        <p:nvSpPr>
          <p:cNvPr id="7" name="Text 4"/>
          <p:cNvSpPr/>
          <p:nvPr/>
        </p:nvSpPr>
        <p:spPr>
          <a:xfrm>
            <a:off x="1051560" y="2834640"/>
            <a:ext cx="4370832" cy="640080"/>
          </a:xfrm>
          <a:prstGeom prst="rect">
            <a:avLst/>
          </a:prstGeom>
          <a:noFill/>
          <a:ln/>
        </p:spPr>
        <p:txBody>
          <a:bodyPr wrap="square" lIns="0" tIns="0" rIns="0" bIns="0" rtlCol="0" anchor="t"/>
          <a:lstStyle/>
          <a:p>
            <a:pPr indent="0" marL="0">
              <a:lnSpc>
                <a:spcPct val="115000"/>
              </a:lnSpc>
              <a:buNone/>
            </a:pPr>
            <a:r>
              <a:rPr lang="en-US" sz="1400" dirty="0">
                <a:solidFill>
                  <a:srgbClr val="1D2B2B"/>
                </a:solidFill>
                <a:latin typeface="Calibri" pitchFamily="34" charset="0"/>
                <a:ea typeface="Calibri" pitchFamily="34" charset="-122"/>
                <a:cs typeface="Calibri" pitchFamily="34" charset="-120"/>
              </a:rPr>
              <a:t>Small, fast growing companies where you do many jobs at once and learn very quickly.</a:t>
            </a:r>
            <a:endParaRPr lang="en-US" sz="1400" dirty="0"/>
          </a:p>
        </p:txBody>
      </p:sp>
      <p:sp>
        <p:nvSpPr>
          <p:cNvPr id="8" name="Shape 5"/>
          <p:cNvSpPr/>
          <p:nvPr/>
        </p:nvSpPr>
        <p:spPr>
          <a:xfrm>
            <a:off x="6309360" y="1600200"/>
            <a:ext cx="5330952" cy="1965960"/>
          </a:xfrm>
          <a:prstGeom prst="roundRect">
            <a:avLst>
              <a:gd name="adj" fmla="val 5581"/>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9" name="Shape 6"/>
          <p:cNvSpPr/>
          <p:nvPr/>
        </p:nvSpPr>
        <p:spPr>
          <a:xfrm>
            <a:off x="6766560" y="1965960"/>
            <a:ext cx="822960" cy="822960"/>
          </a:xfrm>
          <a:prstGeom prst="ellipse">
            <a:avLst/>
          </a:prstGeom>
          <a:solidFill>
            <a:srgbClr val="16B7B3"/>
          </a:solidFill>
          <a:ln/>
        </p:spPr>
      </p:sp>
      <p:pic>
        <p:nvPicPr>
          <p:cNvPr id="10" name="Image 1" descr="assets/ic_landmark_w.png">    </p:cNvPr>
          <p:cNvPicPr>
            <a:picLocks noChangeAspect="1"/>
          </p:cNvPicPr>
          <p:nvPr/>
        </p:nvPicPr>
        <p:blipFill>
          <a:blip r:embed="rId2"/>
          <a:stretch>
            <a:fillRect/>
          </a:stretch>
        </p:blipFill>
        <p:spPr>
          <a:xfrm>
            <a:off x="6972300" y="2171700"/>
            <a:ext cx="411480" cy="411480"/>
          </a:xfrm>
          <a:prstGeom prst="rect">
            <a:avLst/>
          </a:prstGeom>
        </p:spPr>
      </p:pic>
      <p:sp>
        <p:nvSpPr>
          <p:cNvPr id="11" name="Text 7"/>
          <p:cNvSpPr/>
          <p:nvPr/>
        </p:nvSpPr>
        <p:spPr>
          <a:xfrm>
            <a:off x="7726680" y="1920240"/>
            <a:ext cx="3685032" cy="822960"/>
          </a:xfrm>
          <a:prstGeom prst="rect">
            <a:avLst/>
          </a:prstGeom>
          <a:noFill/>
          <a:ln/>
        </p:spPr>
        <p:txBody>
          <a:bodyPr wrap="square" lIns="0" tIns="0" rIns="0" bIns="0" rtlCol="0" anchor="ctr"/>
          <a:lstStyle/>
          <a:p>
            <a:pPr indent="0" marL="0">
              <a:lnSpc>
                <a:spcPct val="100000"/>
              </a:lnSpc>
              <a:buNone/>
            </a:pPr>
            <a:r>
              <a:rPr lang="en-US" sz="1750" b="1" dirty="0">
                <a:solidFill>
                  <a:srgbClr val="0C7C79"/>
                </a:solidFill>
                <a:latin typeface="Calibri" pitchFamily="34" charset="0"/>
                <a:ea typeface="Calibri" pitchFamily="34" charset="-122"/>
                <a:cs typeface="Calibri" pitchFamily="34" charset="-120"/>
              </a:rPr>
              <a:t>Government and Public Sector</a:t>
            </a:r>
            <a:endParaRPr lang="en-US" sz="1750" dirty="0"/>
          </a:p>
        </p:txBody>
      </p:sp>
      <p:sp>
        <p:nvSpPr>
          <p:cNvPr id="12" name="Text 8"/>
          <p:cNvSpPr/>
          <p:nvPr/>
        </p:nvSpPr>
        <p:spPr>
          <a:xfrm>
            <a:off x="6812280" y="2834640"/>
            <a:ext cx="4370832" cy="640080"/>
          </a:xfrm>
          <a:prstGeom prst="rect">
            <a:avLst/>
          </a:prstGeom>
          <a:noFill/>
          <a:ln/>
        </p:spPr>
        <p:txBody>
          <a:bodyPr wrap="square" lIns="0" tIns="0" rIns="0" bIns="0" rtlCol="0" anchor="t"/>
          <a:lstStyle/>
          <a:p>
            <a:pPr indent="0" marL="0">
              <a:lnSpc>
                <a:spcPct val="115000"/>
              </a:lnSpc>
              <a:buNone/>
            </a:pPr>
            <a:r>
              <a:rPr lang="en-US" sz="1400" dirty="0">
                <a:solidFill>
                  <a:srgbClr val="1D2B2B"/>
                </a:solidFill>
                <a:latin typeface="Calibri" pitchFamily="34" charset="0"/>
                <a:ea typeface="Calibri" pitchFamily="34" charset="-122"/>
                <a:cs typeface="Calibri" pitchFamily="34" charset="-120"/>
              </a:rPr>
              <a:t>Work on smart city, traffic, and public data projects that help a whole city or country.</a:t>
            </a:r>
            <a:endParaRPr lang="en-US" sz="1400" dirty="0"/>
          </a:p>
        </p:txBody>
      </p:sp>
      <p:sp>
        <p:nvSpPr>
          <p:cNvPr id="13" name="Shape 9"/>
          <p:cNvSpPr/>
          <p:nvPr/>
        </p:nvSpPr>
        <p:spPr>
          <a:xfrm>
            <a:off x="548640" y="3794760"/>
            <a:ext cx="5330952" cy="1965960"/>
          </a:xfrm>
          <a:prstGeom prst="roundRect">
            <a:avLst>
              <a:gd name="adj" fmla="val 5581"/>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4" name="Shape 10"/>
          <p:cNvSpPr/>
          <p:nvPr/>
        </p:nvSpPr>
        <p:spPr>
          <a:xfrm>
            <a:off x="1005840" y="4160520"/>
            <a:ext cx="822960" cy="822960"/>
          </a:xfrm>
          <a:prstGeom prst="ellipse">
            <a:avLst/>
          </a:prstGeom>
          <a:solidFill>
            <a:srgbClr val="16B7B3"/>
          </a:solidFill>
          <a:ln/>
        </p:spPr>
      </p:sp>
      <p:pic>
        <p:nvPicPr>
          <p:cNvPr id="15" name="Image 2" descr="assets/ic_flask_w.png">    </p:cNvPr>
          <p:cNvPicPr>
            <a:picLocks noChangeAspect="1"/>
          </p:cNvPicPr>
          <p:nvPr/>
        </p:nvPicPr>
        <p:blipFill>
          <a:blip r:embed="rId3"/>
          <a:stretch>
            <a:fillRect/>
          </a:stretch>
        </p:blipFill>
        <p:spPr>
          <a:xfrm>
            <a:off x="1211580" y="4366260"/>
            <a:ext cx="411480" cy="411480"/>
          </a:xfrm>
          <a:prstGeom prst="rect">
            <a:avLst/>
          </a:prstGeom>
        </p:spPr>
      </p:pic>
      <p:sp>
        <p:nvSpPr>
          <p:cNvPr id="16" name="Text 11"/>
          <p:cNvSpPr/>
          <p:nvPr/>
        </p:nvSpPr>
        <p:spPr>
          <a:xfrm>
            <a:off x="1965960" y="4114800"/>
            <a:ext cx="3685032" cy="822960"/>
          </a:xfrm>
          <a:prstGeom prst="rect">
            <a:avLst/>
          </a:prstGeom>
          <a:noFill/>
          <a:ln/>
        </p:spPr>
        <p:txBody>
          <a:bodyPr wrap="square" lIns="0" tIns="0" rIns="0" bIns="0" rtlCol="0" anchor="ctr"/>
          <a:lstStyle/>
          <a:p>
            <a:pPr indent="0" marL="0">
              <a:lnSpc>
                <a:spcPct val="100000"/>
              </a:lnSpc>
              <a:buNone/>
            </a:pPr>
            <a:r>
              <a:rPr lang="en-US" sz="1750" b="1" dirty="0">
                <a:solidFill>
                  <a:srgbClr val="0C7C79"/>
                </a:solidFill>
                <a:latin typeface="Calibri" pitchFamily="34" charset="0"/>
                <a:ea typeface="Calibri" pitchFamily="34" charset="-122"/>
                <a:cs typeface="Calibri" pitchFamily="34" charset="-120"/>
              </a:rPr>
              <a:t>Research and Academia</a:t>
            </a:r>
            <a:endParaRPr lang="en-US" sz="1750" dirty="0"/>
          </a:p>
        </p:txBody>
      </p:sp>
      <p:sp>
        <p:nvSpPr>
          <p:cNvPr id="17" name="Text 12"/>
          <p:cNvSpPr/>
          <p:nvPr/>
        </p:nvSpPr>
        <p:spPr>
          <a:xfrm>
            <a:off x="1051560" y="5029200"/>
            <a:ext cx="4370832" cy="640080"/>
          </a:xfrm>
          <a:prstGeom prst="rect">
            <a:avLst/>
          </a:prstGeom>
          <a:noFill/>
          <a:ln/>
        </p:spPr>
        <p:txBody>
          <a:bodyPr wrap="square" lIns="0" tIns="0" rIns="0" bIns="0" rtlCol="0" anchor="t"/>
          <a:lstStyle/>
          <a:p>
            <a:pPr indent="0" marL="0">
              <a:lnSpc>
                <a:spcPct val="115000"/>
              </a:lnSpc>
              <a:buNone/>
            </a:pPr>
            <a:r>
              <a:rPr lang="en-US" sz="1400" dirty="0">
                <a:solidFill>
                  <a:srgbClr val="1D2B2B"/>
                </a:solidFill>
                <a:latin typeface="Calibri" pitchFamily="34" charset="0"/>
                <a:ea typeface="Calibri" pitchFamily="34" charset="-122"/>
                <a:cs typeface="Calibri" pitchFamily="34" charset="-120"/>
              </a:rPr>
              <a:t>Universities and labs where you build brand new AI models and fresh ideas.</a:t>
            </a:r>
            <a:endParaRPr lang="en-US" sz="1400" dirty="0"/>
          </a:p>
        </p:txBody>
      </p:sp>
      <p:sp>
        <p:nvSpPr>
          <p:cNvPr id="18" name="Shape 13"/>
          <p:cNvSpPr/>
          <p:nvPr/>
        </p:nvSpPr>
        <p:spPr>
          <a:xfrm>
            <a:off x="6309360" y="3794760"/>
            <a:ext cx="5330952" cy="1965960"/>
          </a:xfrm>
          <a:prstGeom prst="roundRect">
            <a:avLst>
              <a:gd name="adj" fmla="val 5581"/>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9" name="Shape 14"/>
          <p:cNvSpPr/>
          <p:nvPr/>
        </p:nvSpPr>
        <p:spPr>
          <a:xfrm>
            <a:off x="6766560" y="4160520"/>
            <a:ext cx="822960" cy="822960"/>
          </a:xfrm>
          <a:prstGeom prst="ellipse">
            <a:avLst/>
          </a:prstGeom>
          <a:solidFill>
            <a:srgbClr val="16B7B3"/>
          </a:solidFill>
          <a:ln/>
        </p:spPr>
      </p:sp>
      <p:pic>
        <p:nvPicPr>
          <p:cNvPr id="20" name="Image 3" descr="assets/ic_box_w.png">    </p:cNvPr>
          <p:cNvPicPr>
            <a:picLocks noChangeAspect="1"/>
          </p:cNvPicPr>
          <p:nvPr/>
        </p:nvPicPr>
        <p:blipFill>
          <a:blip r:embed="rId4"/>
          <a:stretch>
            <a:fillRect/>
          </a:stretch>
        </p:blipFill>
        <p:spPr>
          <a:xfrm>
            <a:off x="6972300" y="4366260"/>
            <a:ext cx="411480" cy="411480"/>
          </a:xfrm>
          <a:prstGeom prst="rect">
            <a:avLst/>
          </a:prstGeom>
        </p:spPr>
      </p:pic>
      <p:sp>
        <p:nvSpPr>
          <p:cNvPr id="21" name="Text 15"/>
          <p:cNvSpPr/>
          <p:nvPr/>
        </p:nvSpPr>
        <p:spPr>
          <a:xfrm>
            <a:off x="7726680" y="4114800"/>
            <a:ext cx="3685032" cy="822960"/>
          </a:xfrm>
          <a:prstGeom prst="rect">
            <a:avLst/>
          </a:prstGeom>
          <a:noFill/>
          <a:ln/>
        </p:spPr>
        <p:txBody>
          <a:bodyPr wrap="square" lIns="0" tIns="0" rIns="0" bIns="0" rtlCol="0" anchor="ctr"/>
          <a:lstStyle/>
          <a:p>
            <a:pPr indent="0" marL="0">
              <a:lnSpc>
                <a:spcPct val="100000"/>
              </a:lnSpc>
              <a:buNone/>
            </a:pPr>
            <a:r>
              <a:rPr lang="en-US" sz="1750" b="1" dirty="0">
                <a:solidFill>
                  <a:srgbClr val="0C7C79"/>
                </a:solidFill>
                <a:latin typeface="Calibri" pitchFamily="34" charset="0"/>
                <a:ea typeface="Calibri" pitchFamily="34" charset="-122"/>
                <a:cs typeface="Calibri" pitchFamily="34" charset="-120"/>
              </a:rPr>
              <a:t>Product and SaaS Companies</a:t>
            </a:r>
            <a:endParaRPr lang="en-US" sz="1750" dirty="0"/>
          </a:p>
        </p:txBody>
      </p:sp>
      <p:sp>
        <p:nvSpPr>
          <p:cNvPr id="22" name="Text 16"/>
          <p:cNvSpPr/>
          <p:nvPr/>
        </p:nvSpPr>
        <p:spPr>
          <a:xfrm>
            <a:off x="6812280" y="5029200"/>
            <a:ext cx="4370832" cy="640080"/>
          </a:xfrm>
          <a:prstGeom prst="rect">
            <a:avLst/>
          </a:prstGeom>
          <a:noFill/>
          <a:ln/>
        </p:spPr>
        <p:txBody>
          <a:bodyPr wrap="square" lIns="0" tIns="0" rIns="0" bIns="0" rtlCol="0" anchor="t"/>
          <a:lstStyle/>
          <a:p>
            <a:pPr indent="0" marL="0">
              <a:lnSpc>
                <a:spcPct val="115000"/>
              </a:lnSpc>
              <a:buNone/>
            </a:pPr>
            <a:r>
              <a:rPr lang="en-US" sz="1400" dirty="0">
                <a:solidFill>
                  <a:srgbClr val="1D2B2B"/>
                </a:solidFill>
                <a:latin typeface="Calibri" pitchFamily="34" charset="0"/>
                <a:ea typeface="Calibri" pitchFamily="34" charset="-122"/>
                <a:cs typeface="Calibri" pitchFamily="34" charset="-120"/>
              </a:rPr>
              <a:t>Companies that build one AI product and keep making it better for millions of users.</a:t>
            </a:r>
            <a:endParaRPr lang="en-US" sz="1400" dirty="0"/>
          </a:p>
        </p:txBody>
      </p:sp>
      <p:pic>
        <p:nvPicPr>
          <p:cNvPr id="23" name="Image 4" descr="assets/logo_teal_crop.png">    </p:cNvPr>
          <p:cNvPicPr>
            <a:picLocks noChangeAspect="1"/>
          </p:cNvPicPr>
          <p:nvPr/>
        </p:nvPicPr>
        <p:blipFill>
          <a:blip r:embed="rId5"/>
          <a:stretch>
            <a:fillRect/>
          </a:stretch>
        </p:blipFill>
        <p:spPr>
          <a:xfrm>
            <a:off x="548640" y="6419088"/>
            <a:ext cx="256032" cy="256032"/>
          </a:xfrm>
          <a:prstGeom prst="rect">
            <a:avLst/>
          </a:prstGeom>
        </p:spPr>
      </p:pic>
      <p:sp>
        <p:nvSpPr>
          <p:cNvPr id="24" name="Text 17"/>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5" name="Text 18"/>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3A3B"/>
        </a:solidFill>
      </p:bgPr>
    </p:bg>
    <p:spTree>
      <p:nvGrpSpPr>
        <p:cNvPr id="1" name=""/>
        <p:cNvGrpSpPr/>
        <p:nvPr/>
      </p:nvGrpSpPr>
      <p:grpSpPr>
        <a:xfrm>
          <a:off x="0" y="0"/>
          <a:ext cx="0" cy="0"/>
          <a:chOff x="0" y="0"/>
          <a:chExt cx="0" cy="0"/>
        </a:xfrm>
      </p:grpSpPr>
      <p:pic>
        <p:nvPicPr>
          <p:cNvPr id="2" name="Image 0" descr="assets/logo_white_crop.png">    </p:cNvPr>
          <p:cNvPicPr>
            <a:picLocks noChangeAspect="1"/>
          </p:cNvPicPr>
          <p:nvPr/>
        </p:nvPicPr>
        <p:blipFill>
          <a:blip r:embed="rId1">
            <a:alphaModFix amt="12000"/>
          </a:blip>
          <a:stretch>
            <a:fillRect/>
          </a:stretch>
        </p:blipFill>
        <p:spPr>
          <a:xfrm>
            <a:off x="9692640" y="4114800"/>
            <a:ext cx="3291840" cy="3291840"/>
          </a:xfrm>
          <a:prstGeom prst="rect">
            <a:avLst/>
          </a:prstGeom>
        </p:spPr>
      </p:pic>
      <p:sp>
        <p:nvSpPr>
          <p:cNvPr id="3"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Big </a:t>
            </a:r>
            <a:pPr algn="l" indent="0" marL="0">
              <a:buNone/>
            </a:pPr>
            <a:r>
              <a:rPr lang="en-US" sz="3200" b="1" dirty="0">
                <a:solidFill>
                  <a:srgbClr val="0C7C79"/>
                </a:solidFill>
                <a:latin typeface="Calibri" pitchFamily="34" charset="0"/>
                <a:ea typeface="Calibri" pitchFamily="34" charset="-122"/>
                <a:cs typeface="Calibri" pitchFamily="34" charset="-120"/>
              </a:rPr>
              <a:t>Answer</a:t>
            </a:r>
            <a:endParaRPr lang="en-US" sz="3200" dirty="0"/>
          </a:p>
        </p:txBody>
      </p:sp>
      <p:sp>
        <p:nvSpPr>
          <p:cNvPr id="4" name="Text 1"/>
          <p:cNvSpPr/>
          <p:nvPr/>
        </p:nvSpPr>
        <p:spPr>
          <a:xfrm>
            <a:off x="731520" y="1828800"/>
            <a:ext cx="3840480" cy="2743200"/>
          </a:xfrm>
          <a:prstGeom prst="rect">
            <a:avLst/>
          </a:prstGeom>
          <a:noFill/>
          <a:ln/>
        </p:spPr>
        <p:txBody>
          <a:bodyPr wrap="square" lIns="0" tIns="0" rIns="0" bIns="0" rtlCol="0" anchor="ctr"/>
          <a:lstStyle/>
          <a:p>
            <a:pPr algn="ctr" indent="0" marL="0">
              <a:buNone/>
            </a:pPr>
            <a:r>
              <a:rPr lang="en-US" sz="20000" b="1" dirty="0">
                <a:solidFill>
                  <a:srgbClr val="16B7B3"/>
                </a:solidFill>
                <a:latin typeface="Calibri" pitchFamily="34" charset="0"/>
                <a:ea typeface="Calibri" pitchFamily="34" charset="-122"/>
                <a:cs typeface="Calibri" pitchFamily="34" charset="-120"/>
              </a:rPr>
              <a:t>1</a:t>
            </a:r>
            <a:endParaRPr lang="en-US" sz="20000" dirty="0"/>
          </a:p>
        </p:txBody>
      </p:sp>
      <p:sp>
        <p:nvSpPr>
          <p:cNvPr id="5" name="Text 2"/>
          <p:cNvSpPr/>
          <p:nvPr/>
        </p:nvSpPr>
        <p:spPr>
          <a:xfrm>
            <a:off x="731520" y="4617720"/>
            <a:ext cx="3840480" cy="548640"/>
          </a:xfrm>
          <a:prstGeom prst="rect">
            <a:avLst/>
          </a:prstGeom>
          <a:noFill/>
          <a:ln/>
        </p:spPr>
        <p:txBody>
          <a:bodyPr wrap="square"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ONE SKILL SET FOR ALL</a:t>
            </a:r>
            <a:endParaRPr lang="en-US" sz="1600" dirty="0"/>
          </a:p>
        </p:txBody>
      </p:sp>
      <p:sp>
        <p:nvSpPr>
          <p:cNvPr id="6" name="Text 3"/>
          <p:cNvSpPr/>
          <p:nvPr/>
        </p:nvSpPr>
        <p:spPr>
          <a:xfrm>
            <a:off x="5120640" y="2148840"/>
            <a:ext cx="6492240" cy="914400"/>
          </a:xfrm>
          <a:prstGeom prst="rect">
            <a:avLst/>
          </a:prstGeom>
          <a:noFill/>
          <a:ln/>
        </p:spPr>
        <p:txBody>
          <a:bodyPr wrap="square" lIns="0" tIns="0" rIns="0" bIns="0" rtlCol="0" anchor="t"/>
          <a:lstStyle/>
          <a:p>
            <a:pPr indent="0" marL="0">
              <a:lnSpc>
                <a:spcPct val="105000"/>
              </a:lnSpc>
              <a:buNone/>
            </a:pPr>
            <a:r>
              <a:rPr lang="en-US" sz="2700" b="1" dirty="0">
                <a:solidFill>
                  <a:srgbClr val="16B7B3"/>
                </a:solidFill>
                <a:latin typeface="Calibri" pitchFamily="34" charset="0"/>
                <a:ea typeface="Calibri" pitchFamily="34" charset="-122"/>
                <a:cs typeface="Calibri" pitchFamily="34" charset="-120"/>
              </a:rPr>
              <a:t>No, you do not need a separate plan.</a:t>
            </a:r>
            <a:endParaRPr lang="en-US" sz="2700" dirty="0"/>
          </a:p>
        </p:txBody>
      </p:sp>
      <p:sp>
        <p:nvSpPr>
          <p:cNvPr id="7" name="Text 4"/>
          <p:cNvSpPr/>
          <p:nvPr/>
        </p:nvSpPr>
        <p:spPr>
          <a:xfrm>
            <a:off x="5120640" y="3246120"/>
            <a:ext cx="6492240" cy="1005840"/>
          </a:xfrm>
          <a:prstGeom prst="rect">
            <a:avLst/>
          </a:prstGeom>
          <a:noFill/>
          <a:ln/>
        </p:spPr>
        <p:txBody>
          <a:bodyPr wrap="square" lIns="0" tIns="0" rIns="0" bIns="0" rtlCol="0" anchor="t"/>
          <a:lstStyle/>
          <a:p>
            <a:pPr indent="0" marL="0">
              <a:lnSpc>
                <a:spcPct val="125000"/>
              </a:lnSpc>
              <a:buNone/>
            </a:pPr>
            <a:r>
              <a:rPr lang="en-US" sz="1650" dirty="0">
                <a:solidFill>
                  <a:srgbClr val="E5F3F2"/>
                </a:solidFill>
                <a:latin typeface="Calibri" pitchFamily="34" charset="0"/>
                <a:ea typeface="Calibri" pitchFamily="34" charset="-122"/>
                <a:cs typeface="Calibri" pitchFamily="34" charset="-120"/>
              </a:rPr>
              <a:t>Getting ready in a different way for every single job would take forever and cause a lot of stress.</a:t>
            </a:r>
            <a:endParaRPr lang="en-US" sz="1650" dirty="0"/>
          </a:p>
        </p:txBody>
      </p:sp>
      <p:sp>
        <p:nvSpPr>
          <p:cNvPr id="8" name="Text 5"/>
          <p:cNvSpPr/>
          <p:nvPr/>
        </p:nvSpPr>
        <p:spPr>
          <a:xfrm>
            <a:off x="5120640" y="4251960"/>
            <a:ext cx="6492240" cy="1005840"/>
          </a:xfrm>
          <a:prstGeom prst="rect">
            <a:avLst/>
          </a:prstGeom>
          <a:noFill/>
          <a:ln/>
        </p:spPr>
        <p:txBody>
          <a:bodyPr wrap="square" lIns="0" tIns="0" rIns="0" bIns="0" rtlCol="0" anchor="t"/>
          <a:lstStyle/>
          <a:p>
            <a:pPr indent="0" marL="0">
              <a:lnSpc>
                <a:spcPct val="125000"/>
              </a:lnSpc>
              <a:buNone/>
            </a:pPr>
            <a:r>
              <a:rPr lang="en-US" sz="1650" dirty="0">
                <a:solidFill>
                  <a:srgbClr val="E5F3F2"/>
                </a:solidFill>
                <a:latin typeface="Calibri" pitchFamily="34" charset="0"/>
                <a:ea typeface="Calibri" pitchFamily="34" charset="-122"/>
                <a:cs typeface="Calibri" pitchFamily="34" charset="-120"/>
              </a:rPr>
              <a:t>Instead, build one strong and flexible skill set by doing tough projects that make you ready for any job.</a:t>
            </a:r>
            <a:endParaRPr lang="en-US" sz="1650" dirty="0"/>
          </a:p>
        </p:txBody>
      </p:sp>
      <p:pic>
        <p:nvPicPr>
          <p:cNvPr id="9" name="Image 1" descr="assets/logo_white_crop.png">    </p:cNvPr>
          <p:cNvPicPr>
            <a:picLocks noChangeAspect="1"/>
          </p:cNvPicPr>
          <p:nvPr/>
        </p:nvPicPr>
        <p:blipFill>
          <a:blip r:embed="rId2"/>
          <a:stretch>
            <a:fillRect/>
          </a:stretch>
        </p:blipFill>
        <p:spPr>
          <a:xfrm>
            <a:off x="548640" y="6419088"/>
            <a:ext cx="256032" cy="256032"/>
          </a:xfrm>
          <a:prstGeom prst="rect">
            <a:avLst/>
          </a:prstGeom>
        </p:spPr>
      </p:pic>
      <p:sp>
        <p:nvSpPr>
          <p:cNvPr id="10" name="Text 6"/>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6FA9A8"/>
                </a:solidFill>
                <a:latin typeface="Calibri" pitchFamily="34" charset="0"/>
                <a:ea typeface="Calibri" pitchFamily="34" charset="-122"/>
                <a:cs typeface="Calibri" pitchFamily="34" charset="-120"/>
              </a:rPr>
              <a:t>Devsil (SMC-Private) Limited</a:t>
            </a:r>
            <a:endParaRPr lang="en-US" sz="900" dirty="0"/>
          </a:p>
        </p:txBody>
      </p:sp>
      <p:sp>
        <p:nvSpPr>
          <p:cNvPr id="11" name="Text 7"/>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6FA9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How to Prepare </a:t>
            </a:r>
            <a:pPr algn="l" indent="0" marL="0">
              <a:buNone/>
            </a:pPr>
            <a:r>
              <a:rPr lang="en-US" sz="3200" b="1" dirty="0">
                <a:solidFill>
                  <a:srgbClr val="0C7C79"/>
                </a:solidFill>
                <a:latin typeface="Calibri" pitchFamily="34" charset="0"/>
                <a:ea typeface="Calibri" pitchFamily="34" charset="-122"/>
                <a:cs typeface="Calibri" pitchFamily="34" charset="-120"/>
              </a:rPr>
              <a:t>the Right Way</a:t>
            </a:r>
            <a:endParaRPr lang="en-US" sz="3200" dirty="0"/>
          </a:p>
        </p:txBody>
      </p:sp>
      <p:sp>
        <p:nvSpPr>
          <p:cNvPr id="3" name="Shape 1"/>
          <p:cNvSpPr/>
          <p:nvPr/>
        </p:nvSpPr>
        <p:spPr>
          <a:xfrm>
            <a:off x="548640" y="1783080"/>
            <a:ext cx="11091672" cy="1234440"/>
          </a:xfrm>
          <a:prstGeom prst="roundRect">
            <a:avLst>
              <a:gd name="adj" fmla="val 8889"/>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4" name="Shape 2"/>
          <p:cNvSpPr/>
          <p:nvPr/>
        </p:nvSpPr>
        <p:spPr>
          <a:xfrm>
            <a:off x="960120" y="1988820"/>
            <a:ext cx="822960" cy="822960"/>
          </a:xfrm>
          <a:prstGeom prst="ellipse">
            <a:avLst/>
          </a:prstGeom>
          <a:solidFill>
            <a:srgbClr val="16B7B3"/>
          </a:solidFill>
          <a:ln/>
        </p:spPr>
      </p:sp>
      <p:pic>
        <p:nvPicPr>
          <p:cNvPr id="5" name="Image 0" descr="assets/ic_dumbbell_w.png">    </p:cNvPr>
          <p:cNvPicPr>
            <a:picLocks noChangeAspect="1"/>
          </p:cNvPicPr>
          <p:nvPr/>
        </p:nvPicPr>
        <p:blipFill>
          <a:blip r:embed="rId1"/>
          <a:stretch>
            <a:fillRect/>
          </a:stretch>
        </p:blipFill>
        <p:spPr>
          <a:xfrm>
            <a:off x="1165860" y="2194560"/>
            <a:ext cx="411480" cy="411480"/>
          </a:xfrm>
          <a:prstGeom prst="rect">
            <a:avLst/>
          </a:prstGeom>
        </p:spPr>
      </p:pic>
      <p:sp>
        <p:nvSpPr>
          <p:cNvPr id="6" name="Text 3"/>
          <p:cNvSpPr/>
          <p:nvPr/>
        </p:nvSpPr>
        <p:spPr>
          <a:xfrm>
            <a:off x="2103120" y="1947672"/>
            <a:ext cx="8961120" cy="457200"/>
          </a:xfrm>
          <a:prstGeom prst="rect">
            <a:avLst/>
          </a:prstGeom>
          <a:noFill/>
          <a:ln/>
        </p:spPr>
        <p:txBody>
          <a:bodyPr wrap="square" lIns="0" tIns="0" rIns="0" bIns="0" rtlCol="0" anchor="ctr"/>
          <a:lstStyle/>
          <a:p>
            <a:pPr indent="0" marL="0">
              <a:buNone/>
            </a:pPr>
            <a:r>
              <a:rPr lang="en-US" sz="1900" b="1" dirty="0">
                <a:solidFill>
                  <a:srgbClr val="0C7C79"/>
                </a:solidFill>
                <a:latin typeface="Calibri" pitchFamily="34" charset="0"/>
                <a:ea typeface="Calibri" pitchFamily="34" charset="-122"/>
                <a:cs typeface="Calibri" pitchFamily="34" charset="-120"/>
              </a:rPr>
              <a:t>Do Tough Projects</a:t>
            </a:r>
            <a:endParaRPr lang="en-US" sz="1900" dirty="0"/>
          </a:p>
        </p:txBody>
      </p:sp>
      <p:sp>
        <p:nvSpPr>
          <p:cNvPr id="7" name="Text 4"/>
          <p:cNvSpPr/>
          <p:nvPr/>
        </p:nvSpPr>
        <p:spPr>
          <a:xfrm>
            <a:off x="2103120" y="2386584"/>
            <a:ext cx="9144000" cy="502920"/>
          </a:xfrm>
          <a:prstGeom prst="rect">
            <a:avLst/>
          </a:prstGeom>
          <a:noFill/>
          <a:ln/>
        </p:spPr>
        <p:txBody>
          <a:bodyPr wrap="square" lIns="0" tIns="0" rIns="0" bIns="0" rtlCol="0" anchor="ctr"/>
          <a:lstStyle/>
          <a:p>
            <a:pPr indent="0" marL="0">
              <a:lnSpc>
                <a:spcPct val="110000"/>
              </a:lnSpc>
              <a:buNone/>
            </a:pPr>
            <a:r>
              <a:rPr lang="en-US" sz="1500" dirty="0">
                <a:solidFill>
                  <a:srgbClr val="1D2B2B"/>
                </a:solidFill>
                <a:latin typeface="Calibri" pitchFamily="34" charset="0"/>
                <a:ea typeface="Calibri" pitchFamily="34" charset="-122"/>
                <a:cs typeface="Calibri" pitchFamily="34" charset="-120"/>
              </a:rPr>
              <a:t>Do not stick to easy tutorials. Hard tasks push your limits and make you truly skilled.</a:t>
            </a:r>
            <a:endParaRPr lang="en-US" sz="1500" dirty="0"/>
          </a:p>
        </p:txBody>
      </p:sp>
      <p:sp>
        <p:nvSpPr>
          <p:cNvPr id="8" name="Shape 5"/>
          <p:cNvSpPr/>
          <p:nvPr/>
        </p:nvSpPr>
        <p:spPr>
          <a:xfrm>
            <a:off x="548640" y="3291840"/>
            <a:ext cx="11091672" cy="1234440"/>
          </a:xfrm>
          <a:prstGeom prst="roundRect">
            <a:avLst>
              <a:gd name="adj" fmla="val 8889"/>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9" name="Shape 6"/>
          <p:cNvSpPr/>
          <p:nvPr/>
        </p:nvSpPr>
        <p:spPr>
          <a:xfrm>
            <a:off x="960120" y="3497580"/>
            <a:ext cx="822960" cy="822960"/>
          </a:xfrm>
          <a:prstGeom prst="ellipse">
            <a:avLst/>
          </a:prstGeom>
          <a:solidFill>
            <a:srgbClr val="16B7B3"/>
          </a:solidFill>
          <a:ln/>
        </p:spPr>
      </p:sp>
      <p:pic>
        <p:nvPicPr>
          <p:cNvPr id="10" name="Image 1" descr="assets/ic_trend_w.png">    </p:cNvPr>
          <p:cNvPicPr>
            <a:picLocks noChangeAspect="1"/>
          </p:cNvPicPr>
          <p:nvPr/>
        </p:nvPicPr>
        <p:blipFill>
          <a:blip r:embed="rId2"/>
          <a:stretch>
            <a:fillRect/>
          </a:stretch>
        </p:blipFill>
        <p:spPr>
          <a:xfrm>
            <a:off x="1165860" y="3703320"/>
            <a:ext cx="411480" cy="411480"/>
          </a:xfrm>
          <a:prstGeom prst="rect">
            <a:avLst/>
          </a:prstGeom>
        </p:spPr>
      </p:pic>
      <p:sp>
        <p:nvSpPr>
          <p:cNvPr id="11" name="Text 7"/>
          <p:cNvSpPr/>
          <p:nvPr/>
        </p:nvSpPr>
        <p:spPr>
          <a:xfrm>
            <a:off x="2103120" y="3456432"/>
            <a:ext cx="8961120" cy="457200"/>
          </a:xfrm>
          <a:prstGeom prst="rect">
            <a:avLst/>
          </a:prstGeom>
          <a:noFill/>
          <a:ln/>
        </p:spPr>
        <p:txBody>
          <a:bodyPr wrap="square" lIns="0" tIns="0" rIns="0" bIns="0" rtlCol="0" anchor="ctr"/>
          <a:lstStyle/>
          <a:p>
            <a:pPr indent="0" marL="0">
              <a:buNone/>
            </a:pPr>
            <a:r>
              <a:rPr lang="en-US" sz="1900" b="1" dirty="0">
                <a:solidFill>
                  <a:srgbClr val="0C7C79"/>
                </a:solidFill>
                <a:latin typeface="Calibri" pitchFamily="34" charset="0"/>
                <a:ea typeface="Calibri" pitchFamily="34" charset="-122"/>
                <a:cs typeface="Calibri" pitchFamily="34" charset="-120"/>
              </a:rPr>
              <a:t>Grow Your Confidence</a:t>
            </a:r>
            <a:endParaRPr lang="en-US" sz="1900" dirty="0"/>
          </a:p>
        </p:txBody>
      </p:sp>
      <p:sp>
        <p:nvSpPr>
          <p:cNvPr id="12" name="Text 8"/>
          <p:cNvSpPr/>
          <p:nvPr/>
        </p:nvSpPr>
        <p:spPr>
          <a:xfrm>
            <a:off x="2103120" y="3895344"/>
            <a:ext cx="9144000" cy="502920"/>
          </a:xfrm>
          <a:prstGeom prst="rect">
            <a:avLst/>
          </a:prstGeom>
          <a:noFill/>
          <a:ln/>
        </p:spPr>
        <p:txBody>
          <a:bodyPr wrap="square" lIns="0" tIns="0" rIns="0" bIns="0" rtlCol="0" anchor="ctr"/>
          <a:lstStyle/>
          <a:p>
            <a:pPr indent="0" marL="0">
              <a:lnSpc>
                <a:spcPct val="110000"/>
              </a:lnSpc>
              <a:buNone/>
            </a:pPr>
            <a:r>
              <a:rPr lang="en-US" sz="1500" dirty="0">
                <a:solidFill>
                  <a:srgbClr val="1D2B2B"/>
                </a:solidFill>
                <a:latin typeface="Calibri" pitchFamily="34" charset="0"/>
                <a:ea typeface="Calibri" pitchFamily="34" charset="-122"/>
                <a:cs typeface="Calibri" pitchFamily="34" charset="-120"/>
              </a:rPr>
              <a:t>When you solve hard problems on your own, you stop being scared of any new tech.</a:t>
            </a:r>
            <a:endParaRPr lang="en-US" sz="1500" dirty="0"/>
          </a:p>
        </p:txBody>
      </p:sp>
      <p:sp>
        <p:nvSpPr>
          <p:cNvPr id="13" name="Shape 9"/>
          <p:cNvSpPr/>
          <p:nvPr/>
        </p:nvSpPr>
        <p:spPr>
          <a:xfrm>
            <a:off x="548640" y="4800600"/>
            <a:ext cx="11091672" cy="1234440"/>
          </a:xfrm>
          <a:prstGeom prst="roundRect">
            <a:avLst>
              <a:gd name="adj" fmla="val 8889"/>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4" name="Shape 10"/>
          <p:cNvSpPr/>
          <p:nvPr/>
        </p:nvSpPr>
        <p:spPr>
          <a:xfrm>
            <a:off x="960120" y="5006340"/>
            <a:ext cx="822960" cy="822960"/>
          </a:xfrm>
          <a:prstGeom prst="ellipse">
            <a:avLst/>
          </a:prstGeom>
          <a:solidFill>
            <a:srgbClr val="16B7B3"/>
          </a:solidFill>
          <a:ln/>
        </p:spPr>
      </p:sp>
      <p:pic>
        <p:nvPicPr>
          <p:cNvPr id="15" name="Image 2" descr="assets/ic_shield_w.png">    </p:cNvPr>
          <p:cNvPicPr>
            <a:picLocks noChangeAspect="1"/>
          </p:cNvPicPr>
          <p:nvPr/>
        </p:nvPicPr>
        <p:blipFill>
          <a:blip r:embed="rId3"/>
          <a:stretch>
            <a:fillRect/>
          </a:stretch>
        </p:blipFill>
        <p:spPr>
          <a:xfrm>
            <a:off x="1165860" y="5212080"/>
            <a:ext cx="411480" cy="411480"/>
          </a:xfrm>
          <a:prstGeom prst="rect">
            <a:avLst/>
          </a:prstGeom>
        </p:spPr>
      </p:pic>
      <p:sp>
        <p:nvSpPr>
          <p:cNvPr id="16" name="Text 11"/>
          <p:cNvSpPr/>
          <p:nvPr/>
        </p:nvSpPr>
        <p:spPr>
          <a:xfrm>
            <a:off x="2103120" y="4965192"/>
            <a:ext cx="8961120" cy="457200"/>
          </a:xfrm>
          <a:prstGeom prst="rect">
            <a:avLst/>
          </a:prstGeom>
          <a:noFill/>
          <a:ln/>
        </p:spPr>
        <p:txBody>
          <a:bodyPr wrap="square" lIns="0" tIns="0" rIns="0" bIns="0" rtlCol="0" anchor="ctr"/>
          <a:lstStyle/>
          <a:p>
            <a:pPr indent="0" marL="0">
              <a:buNone/>
            </a:pPr>
            <a:r>
              <a:rPr lang="en-US" sz="1900" b="1" dirty="0">
                <a:solidFill>
                  <a:srgbClr val="0C7C79"/>
                </a:solidFill>
                <a:latin typeface="Calibri" pitchFamily="34" charset="0"/>
                <a:ea typeface="Calibri" pitchFamily="34" charset="-122"/>
                <a:cs typeface="Calibri" pitchFamily="34" charset="-120"/>
              </a:rPr>
              <a:t>Be Ready for Anything</a:t>
            </a:r>
            <a:endParaRPr lang="en-US" sz="1900" dirty="0"/>
          </a:p>
        </p:txBody>
      </p:sp>
      <p:sp>
        <p:nvSpPr>
          <p:cNvPr id="17" name="Text 12"/>
          <p:cNvSpPr/>
          <p:nvPr/>
        </p:nvSpPr>
        <p:spPr>
          <a:xfrm>
            <a:off x="2103120" y="5404104"/>
            <a:ext cx="9144000" cy="502920"/>
          </a:xfrm>
          <a:prstGeom prst="rect">
            <a:avLst/>
          </a:prstGeom>
          <a:noFill/>
          <a:ln/>
        </p:spPr>
        <p:txBody>
          <a:bodyPr wrap="square" lIns="0" tIns="0" rIns="0" bIns="0" rtlCol="0" anchor="ctr"/>
          <a:lstStyle/>
          <a:p>
            <a:pPr indent="0" marL="0">
              <a:lnSpc>
                <a:spcPct val="110000"/>
              </a:lnSpc>
              <a:buNone/>
            </a:pPr>
            <a:r>
              <a:rPr lang="en-US" sz="1500" dirty="0">
                <a:solidFill>
                  <a:srgbClr val="1D2B2B"/>
                </a:solidFill>
                <a:latin typeface="Calibri" pitchFamily="34" charset="0"/>
                <a:ea typeface="Calibri" pitchFamily="34" charset="-122"/>
                <a:cs typeface="Calibri" pitchFamily="34" charset="-120"/>
              </a:rPr>
              <a:t>With a strong base, you can move from simple data work to computer vision with ease.</a:t>
            </a:r>
            <a:endParaRPr lang="en-US" sz="1500" dirty="0"/>
          </a:p>
        </p:txBody>
      </p:sp>
      <p:pic>
        <p:nvPicPr>
          <p:cNvPr id="18" name="Image 3" descr="assets/logo_teal_crop.png">    </p:cNvPr>
          <p:cNvPicPr>
            <a:picLocks noChangeAspect="1"/>
          </p:cNvPicPr>
          <p:nvPr/>
        </p:nvPicPr>
        <p:blipFill>
          <a:blip r:embed="rId4"/>
          <a:stretch>
            <a:fillRect/>
          </a:stretch>
        </p:blipFill>
        <p:spPr>
          <a:xfrm>
            <a:off x="548640" y="6419088"/>
            <a:ext cx="256032" cy="256032"/>
          </a:xfrm>
          <a:prstGeom prst="rect">
            <a:avLst/>
          </a:prstGeom>
        </p:spPr>
      </p:pic>
      <p:sp>
        <p:nvSpPr>
          <p:cNvPr id="19" name="Text 13"/>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0" name="Text 14"/>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What is a </a:t>
            </a:r>
            <a:pPr algn="l" indent="0" marL="0">
              <a:buNone/>
            </a:pPr>
            <a:r>
              <a:rPr lang="en-US" sz="3200" b="1" dirty="0">
                <a:solidFill>
                  <a:srgbClr val="0C7C79"/>
                </a:solidFill>
                <a:latin typeface="Calibri" pitchFamily="34" charset="0"/>
                <a:ea typeface="Calibri" pitchFamily="34" charset="-122"/>
                <a:cs typeface="Calibri" pitchFamily="34" charset="-120"/>
              </a:rPr>
              <a:t>Real World Project?</a:t>
            </a:r>
            <a:endParaRPr lang="en-US" sz="3200" dirty="0"/>
          </a:p>
        </p:txBody>
      </p:sp>
      <p:sp>
        <p:nvSpPr>
          <p:cNvPr id="3" name="Shape 1"/>
          <p:cNvSpPr/>
          <p:nvPr/>
        </p:nvSpPr>
        <p:spPr>
          <a:xfrm>
            <a:off x="548640" y="1783080"/>
            <a:ext cx="822960" cy="822960"/>
          </a:xfrm>
          <a:prstGeom prst="ellipse">
            <a:avLst/>
          </a:prstGeom>
          <a:solidFill>
            <a:srgbClr val="16B7B3"/>
          </a:solidFill>
          <a:ln/>
        </p:spPr>
      </p:sp>
      <p:pic>
        <p:nvPicPr>
          <p:cNvPr id="4" name="Image 0" descr="assets/ic_question_w.png">    </p:cNvPr>
          <p:cNvPicPr>
            <a:picLocks noChangeAspect="1"/>
          </p:cNvPicPr>
          <p:nvPr/>
        </p:nvPicPr>
        <p:blipFill>
          <a:blip r:embed="rId1"/>
          <a:stretch>
            <a:fillRect/>
          </a:stretch>
        </p:blipFill>
        <p:spPr>
          <a:xfrm>
            <a:off x="754380" y="1988820"/>
            <a:ext cx="411480" cy="411480"/>
          </a:xfrm>
          <a:prstGeom prst="rect">
            <a:avLst/>
          </a:prstGeom>
        </p:spPr>
      </p:pic>
      <p:sp>
        <p:nvSpPr>
          <p:cNvPr id="5" name="Text 2"/>
          <p:cNvSpPr/>
          <p:nvPr/>
        </p:nvSpPr>
        <p:spPr>
          <a:xfrm>
            <a:off x="1600200" y="1691640"/>
            <a:ext cx="585216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The Practice Feeling</a:t>
            </a:r>
            <a:endParaRPr lang="en-US" sz="1800" dirty="0"/>
          </a:p>
        </p:txBody>
      </p:sp>
      <p:sp>
        <p:nvSpPr>
          <p:cNvPr id="6" name="Text 3"/>
          <p:cNvSpPr/>
          <p:nvPr/>
        </p:nvSpPr>
        <p:spPr>
          <a:xfrm>
            <a:off x="1600200" y="2148840"/>
            <a:ext cx="5943600" cy="914400"/>
          </a:xfrm>
          <a:prstGeom prst="rect">
            <a:avLst/>
          </a:prstGeom>
          <a:noFill/>
          <a:ln/>
        </p:spPr>
        <p:txBody>
          <a:bodyPr wrap="square" lIns="0" tIns="0" rIns="0" bIns="0"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Sometimes your projects feel like just practice, because you are not building them for a client right now.</a:t>
            </a:r>
            <a:endParaRPr lang="en-US" sz="1450" dirty="0"/>
          </a:p>
        </p:txBody>
      </p:sp>
      <p:sp>
        <p:nvSpPr>
          <p:cNvPr id="7" name="Shape 4"/>
          <p:cNvSpPr/>
          <p:nvPr/>
        </p:nvSpPr>
        <p:spPr>
          <a:xfrm>
            <a:off x="548640" y="3200400"/>
            <a:ext cx="822960" cy="822960"/>
          </a:xfrm>
          <a:prstGeom prst="ellipse">
            <a:avLst/>
          </a:prstGeom>
          <a:solidFill>
            <a:srgbClr val="16B7B3"/>
          </a:solidFill>
          <a:ln/>
        </p:spPr>
      </p:sp>
      <p:pic>
        <p:nvPicPr>
          <p:cNvPr id="8" name="Image 1" descr="assets/ic_check_w.png">    </p:cNvPr>
          <p:cNvPicPr>
            <a:picLocks noChangeAspect="1"/>
          </p:cNvPicPr>
          <p:nvPr/>
        </p:nvPicPr>
        <p:blipFill>
          <a:blip r:embed="rId2"/>
          <a:stretch>
            <a:fillRect/>
          </a:stretch>
        </p:blipFill>
        <p:spPr>
          <a:xfrm>
            <a:off x="754380" y="3406140"/>
            <a:ext cx="411480" cy="411480"/>
          </a:xfrm>
          <a:prstGeom prst="rect">
            <a:avLst/>
          </a:prstGeom>
        </p:spPr>
      </p:pic>
      <p:sp>
        <p:nvSpPr>
          <p:cNvPr id="9" name="Text 5"/>
          <p:cNvSpPr/>
          <p:nvPr/>
        </p:nvSpPr>
        <p:spPr>
          <a:xfrm>
            <a:off x="1600200" y="3108960"/>
            <a:ext cx="585216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But It Is Real</a:t>
            </a:r>
            <a:endParaRPr lang="en-US" sz="1800" dirty="0"/>
          </a:p>
        </p:txBody>
      </p:sp>
      <p:sp>
        <p:nvSpPr>
          <p:cNvPr id="10" name="Text 6"/>
          <p:cNvSpPr/>
          <p:nvPr/>
        </p:nvSpPr>
        <p:spPr>
          <a:xfrm>
            <a:off x="1600200" y="3566160"/>
            <a:ext cx="5943600" cy="914400"/>
          </a:xfrm>
          <a:prstGeom prst="rect">
            <a:avLst/>
          </a:prstGeom>
          <a:noFill/>
          <a:ln/>
        </p:spPr>
        <p:txBody>
          <a:bodyPr wrap="square" lIns="0" tIns="0" rIns="0" bIns="0"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If you build a smart attendance system with computer vision, the code is exactly the same as a real product.</a:t>
            </a:r>
            <a:endParaRPr lang="en-US" sz="1450" dirty="0"/>
          </a:p>
        </p:txBody>
      </p:sp>
      <p:sp>
        <p:nvSpPr>
          <p:cNvPr id="11" name="Shape 7"/>
          <p:cNvSpPr/>
          <p:nvPr/>
        </p:nvSpPr>
        <p:spPr>
          <a:xfrm>
            <a:off x="548640" y="4617720"/>
            <a:ext cx="822960" cy="822960"/>
          </a:xfrm>
          <a:prstGeom prst="ellipse">
            <a:avLst/>
          </a:prstGeom>
          <a:solidFill>
            <a:srgbClr val="16B7B3"/>
          </a:solidFill>
          <a:ln/>
        </p:spPr>
      </p:sp>
      <p:pic>
        <p:nvPicPr>
          <p:cNvPr id="12" name="Image 2" descr="assets/ic_building_w.png">    </p:cNvPr>
          <p:cNvPicPr>
            <a:picLocks noChangeAspect="1"/>
          </p:cNvPicPr>
          <p:nvPr/>
        </p:nvPicPr>
        <p:blipFill>
          <a:blip r:embed="rId3"/>
          <a:stretch>
            <a:fillRect/>
          </a:stretch>
        </p:blipFill>
        <p:spPr>
          <a:xfrm>
            <a:off x="754380" y="4823460"/>
            <a:ext cx="411480" cy="411480"/>
          </a:xfrm>
          <a:prstGeom prst="rect">
            <a:avLst/>
          </a:prstGeom>
        </p:spPr>
      </p:pic>
      <p:sp>
        <p:nvSpPr>
          <p:cNvPr id="13" name="Text 8"/>
          <p:cNvSpPr/>
          <p:nvPr/>
        </p:nvSpPr>
        <p:spPr>
          <a:xfrm>
            <a:off x="1600200" y="4526280"/>
            <a:ext cx="5852160" cy="457200"/>
          </a:xfrm>
          <a:prstGeom prst="rect">
            <a:avLst/>
          </a:prstGeom>
          <a:noFill/>
          <a:ln/>
        </p:spPr>
        <p:txBody>
          <a:bodyPr wrap="square" lIns="0" tIns="0" rIns="0" bIns="0" rtlCol="0" anchor="ctr"/>
          <a:lstStyle/>
          <a:p>
            <a:pPr indent="0" marL="0">
              <a:buNone/>
            </a:pPr>
            <a:r>
              <a:rPr lang="en-US" sz="1800" b="1" dirty="0">
                <a:solidFill>
                  <a:srgbClr val="1D2B2B"/>
                </a:solidFill>
                <a:latin typeface="Calibri" pitchFamily="34" charset="0"/>
                <a:ea typeface="Calibri" pitchFamily="34" charset="-122"/>
                <a:cs typeface="Calibri" pitchFamily="34" charset="-120"/>
              </a:rPr>
              <a:t>The Services Company Example</a:t>
            </a:r>
            <a:endParaRPr lang="en-US" sz="1800" dirty="0"/>
          </a:p>
        </p:txBody>
      </p:sp>
      <p:sp>
        <p:nvSpPr>
          <p:cNvPr id="14" name="Text 9"/>
          <p:cNvSpPr/>
          <p:nvPr/>
        </p:nvSpPr>
        <p:spPr>
          <a:xfrm>
            <a:off x="1600200" y="4983480"/>
            <a:ext cx="5943600" cy="914400"/>
          </a:xfrm>
          <a:prstGeom prst="rect">
            <a:avLst/>
          </a:prstGeom>
          <a:noFill/>
          <a:ln/>
        </p:spPr>
        <p:txBody>
          <a:bodyPr wrap="square" lIns="0" tIns="0" rIns="0" bIns="0" rtlCol="0" anchor="t"/>
          <a:lstStyle/>
          <a:p>
            <a:pPr indent="0" marL="0">
              <a:lnSpc>
                <a:spcPct val="115000"/>
              </a:lnSpc>
              <a:buNone/>
            </a:pPr>
            <a:r>
              <a:rPr lang="en-US" sz="1450" dirty="0">
                <a:solidFill>
                  <a:srgbClr val="5F7373"/>
                </a:solidFill>
                <a:latin typeface="Calibri" pitchFamily="34" charset="0"/>
                <a:ea typeface="Calibri" pitchFamily="34" charset="-122"/>
                <a:cs typeface="Calibri" pitchFamily="34" charset="-120"/>
              </a:rPr>
              <a:t>When a company builds that same system for a real business to track staff, it uses your exact skills.</a:t>
            </a:r>
            <a:endParaRPr lang="en-US" sz="1450" dirty="0"/>
          </a:p>
        </p:txBody>
      </p:sp>
      <p:sp>
        <p:nvSpPr>
          <p:cNvPr id="15" name="Shape 10"/>
          <p:cNvSpPr/>
          <p:nvPr/>
        </p:nvSpPr>
        <p:spPr>
          <a:xfrm>
            <a:off x="8046720" y="1691640"/>
            <a:ext cx="3566160" cy="4206240"/>
          </a:xfrm>
          <a:prstGeom prst="roundRect">
            <a:avLst>
              <a:gd name="adj" fmla="val 3077"/>
            </a:avLst>
          </a:prstGeom>
          <a:solidFill>
            <a:srgbClr val="0E3A3B"/>
          </a:solidFill>
          <a:ln/>
          <a:effectLst>
            <a:outerShdw sx="100000" sy="100000" kx="0" ky="0" algn="bl" rotWithShape="0" blurRad="127000" dist="38100" dir="5400000">
              <a:srgbClr val="0E3A3B">
                <a:alpha val="10000"/>
              </a:srgbClr>
            </a:outerShdw>
          </a:effectLst>
        </p:spPr>
      </p:sp>
      <p:sp>
        <p:nvSpPr>
          <p:cNvPr id="16" name="Shape 11"/>
          <p:cNvSpPr/>
          <p:nvPr/>
        </p:nvSpPr>
        <p:spPr>
          <a:xfrm>
            <a:off x="9144000" y="2240280"/>
            <a:ext cx="1371600" cy="1371600"/>
          </a:xfrm>
          <a:prstGeom prst="ellipse">
            <a:avLst/>
          </a:prstGeom>
          <a:solidFill>
            <a:srgbClr val="12504E"/>
          </a:solidFill>
          <a:ln/>
        </p:spPr>
      </p:sp>
      <p:pic>
        <p:nvPicPr>
          <p:cNvPr id="17" name="Image 3" descr="assets/ic_scan_w.png">    </p:cNvPr>
          <p:cNvPicPr>
            <a:picLocks noChangeAspect="1"/>
          </p:cNvPicPr>
          <p:nvPr/>
        </p:nvPicPr>
        <p:blipFill>
          <a:blip r:embed="rId4"/>
          <a:stretch>
            <a:fillRect/>
          </a:stretch>
        </p:blipFill>
        <p:spPr>
          <a:xfrm>
            <a:off x="9486900" y="2583180"/>
            <a:ext cx="685800" cy="685800"/>
          </a:xfrm>
          <a:prstGeom prst="rect">
            <a:avLst/>
          </a:prstGeom>
        </p:spPr>
      </p:pic>
      <p:sp>
        <p:nvSpPr>
          <p:cNvPr id="18" name="Text 12"/>
          <p:cNvSpPr/>
          <p:nvPr/>
        </p:nvSpPr>
        <p:spPr>
          <a:xfrm>
            <a:off x="8275320" y="3977640"/>
            <a:ext cx="3108960" cy="457200"/>
          </a:xfrm>
          <a:prstGeom prst="rect">
            <a:avLst/>
          </a:prstGeom>
          <a:noFill/>
          <a:ln/>
        </p:spPr>
        <p:txBody>
          <a:bodyPr wrap="square" rtlCol="0" anchor="ctr"/>
          <a:lstStyle/>
          <a:p>
            <a:pPr algn="ctr" indent="0" marL="0">
              <a:buNone/>
            </a:pPr>
            <a:r>
              <a:rPr lang="en-US" sz="1500" b="1" dirty="0">
                <a:solidFill>
                  <a:srgbClr val="16B7B3"/>
                </a:solidFill>
                <a:latin typeface="Calibri" pitchFamily="34" charset="0"/>
                <a:ea typeface="Calibri" pitchFamily="34" charset="-122"/>
                <a:cs typeface="Calibri" pitchFamily="34" charset="-120"/>
              </a:rPr>
              <a:t>Real skills, not just practice</a:t>
            </a:r>
            <a:endParaRPr lang="en-US" sz="1500" dirty="0"/>
          </a:p>
        </p:txBody>
      </p:sp>
      <p:sp>
        <p:nvSpPr>
          <p:cNvPr id="19" name="Text 13"/>
          <p:cNvSpPr/>
          <p:nvPr/>
        </p:nvSpPr>
        <p:spPr>
          <a:xfrm>
            <a:off x="8275320" y="4480560"/>
            <a:ext cx="3108960" cy="1280160"/>
          </a:xfrm>
          <a:prstGeom prst="rect">
            <a:avLst/>
          </a:prstGeom>
          <a:noFill/>
          <a:ln/>
        </p:spPr>
        <p:txBody>
          <a:bodyPr wrap="square" rtlCol="0" anchor="t"/>
          <a:lstStyle/>
          <a:p>
            <a:pPr algn="ctr" indent="0" marL="0">
              <a:lnSpc>
                <a:spcPct val="115000"/>
              </a:lnSpc>
              <a:buNone/>
            </a:pPr>
            <a:r>
              <a:rPr lang="en-US" sz="1550" dirty="0">
                <a:solidFill>
                  <a:srgbClr val="FFFFFF"/>
                </a:solidFill>
                <a:latin typeface="Calibri" pitchFamily="34" charset="0"/>
                <a:ea typeface="Calibri" pitchFamily="34" charset="-122"/>
                <a:cs typeface="Calibri" pitchFamily="34" charset="-120"/>
              </a:rPr>
              <a:t>Helmet and number plate detection are used by real businesses every day.</a:t>
            </a:r>
            <a:endParaRPr lang="en-US" sz="1550" dirty="0"/>
          </a:p>
        </p:txBody>
      </p:sp>
      <p:pic>
        <p:nvPicPr>
          <p:cNvPr id="20" name="Image 4" descr="assets/logo_teal_crop.png">    </p:cNvPr>
          <p:cNvPicPr>
            <a:picLocks noChangeAspect="1"/>
          </p:cNvPicPr>
          <p:nvPr/>
        </p:nvPicPr>
        <p:blipFill>
          <a:blip r:embed="rId5"/>
          <a:stretch>
            <a:fillRect/>
          </a:stretch>
        </p:blipFill>
        <p:spPr>
          <a:xfrm>
            <a:off x="548640" y="6419088"/>
            <a:ext cx="256032" cy="256032"/>
          </a:xfrm>
          <a:prstGeom prst="rect">
            <a:avLst/>
          </a:prstGeom>
        </p:spPr>
      </p:pic>
      <p:sp>
        <p:nvSpPr>
          <p:cNvPr id="21" name="Text 14"/>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2" name="Text 15"/>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algn="l" indent="0" marL="0">
              <a:buNone/>
            </a:pPr>
            <a:r>
              <a:rPr lang="en-US" sz="3200" b="1" dirty="0">
                <a:solidFill>
                  <a:srgbClr val="1D2B2B"/>
                </a:solidFill>
                <a:latin typeface="Calibri" pitchFamily="34" charset="0"/>
                <a:ea typeface="Calibri" pitchFamily="34" charset="-122"/>
                <a:cs typeface="Calibri" pitchFamily="34" charset="-120"/>
              </a:rPr>
              <a:t>Real World </a:t>
            </a:r>
            <a:pPr algn="l" indent="0" marL="0">
              <a:buNone/>
            </a:pPr>
            <a:r>
              <a:rPr lang="en-US" sz="3200" b="1" dirty="0">
                <a:solidFill>
                  <a:srgbClr val="0C7C79"/>
                </a:solidFill>
                <a:latin typeface="Calibri" pitchFamily="34" charset="0"/>
                <a:ea typeface="Calibri" pitchFamily="34" charset="-122"/>
                <a:cs typeface="Calibri" pitchFamily="34" charset="-120"/>
              </a:rPr>
              <a:t>Solutions in Action</a:t>
            </a:r>
            <a:endParaRPr lang="en-US" sz="3200" dirty="0"/>
          </a:p>
        </p:txBody>
      </p:sp>
      <p:sp>
        <p:nvSpPr>
          <p:cNvPr id="3" name="Shape 1"/>
          <p:cNvSpPr/>
          <p:nvPr/>
        </p:nvSpPr>
        <p:spPr>
          <a:xfrm>
            <a:off x="548640" y="1600200"/>
            <a:ext cx="3520440" cy="2926080"/>
          </a:xfrm>
          <a:prstGeom prst="roundRect">
            <a:avLst>
              <a:gd name="adj" fmla="val 375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4" name="Shape 2"/>
          <p:cNvSpPr/>
          <p:nvPr/>
        </p:nvSpPr>
        <p:spPr>
          <a:xfrm>
            <a:off x="1783080" y="1943100"/>
            <a:ext cx="1051560" cy="1051560"/>
          </a:xfrm>
          <a:prstGeom prst="ellipse">
            <a:avLst/>
          </a:prstGeom>
          <a:solidFill>
            <a:srgbClr val="16B7B3"/>
          </a:solidFill>
          <a:ln/>
        </p:spPr>
      </p:sp>
      <p:pic>
        <p:nvPicPr>
          <p:cNvPr id="5" name="Image 0" descr="assets/ic_camera_w.png">    </p:cNvPr>
          <p:cNvPicPr>
            <a:picLocks noChangeAspect="1"/>
          </p:cNvPicPr>
          <p:nvPr/>
        </p:nvPicPr>
        <p:blipFill>
          <a:blip r:embed="rId1"/>
          <a:stretch>
            <a:fillRect/>
          </a:stretch>
        </p:blipFill>
        <p:spPr>
          <a:xfrm>
            <a:off x="2045970" y="2205990"/>
            <a:ext cx="525780" cy="525780"/>
          </a:xfrm>
          <a:prstGeom prst="rect">
            <a:avLst/>
          </a:prstGeom>
        </p:spPr>
      </p:pic>
      <p:sp>
        <p:nvSpPr>
          <p:cNvPr id="6" name="Text 3"/>
          <p:cNvSpPr/>
          <p:nvPr/>
        </p:nvSpPr>
        <p:spPr>
          <a:xfrm>
            <a:off x="822960" y="3108960"/>
            <a:ext cx="2971800" cy="502920"/>
          </a:xfrm>
          <a:prstGeom prst="rect">
            <a:avLst/>
          </a:prstGeom>
          <a:noFill/>
          <a:ln/>
        </p:spPr>
        <p:txBody>
          <a:bodyPr wrap="square" lIns="0" tIns="0" rIns="0" bIns="0" rtlCol="0" anchor="ctr"/>
          <a:lstStyle/>
          <a:p>
            <a:pPr algn="ctr" indent="0" marL="0">
              <a:buNone/>
            </a:pPr>
            <a:r>
              <a:rPr lang="en-US" sz="1700" b="1" dirty="0">
                <a:solidFill>
                  <a:srgbClr val="0C7C79"/>
                </a:solidFill>
                <a:latin typeface="Calibri" pitchFamily="34" charset="0"/>
                <a:ea typeface="Calibri" pitchFamily="34" charset="-122"/>
                <a:cs typeface="Calibri" pitchFamily="34" charset="-120"/>
              </a:rPr>
              <a:t>Smart City Cameras</a:t>
            </a:r>
            <a:endParaRPr lang="en-US" sz="1700" dirty="0"/>
          </a:p>
        </p:txBody>
      </p:sp>
      <p:sp>
        <p:nvSpPr>
          <p:cNvPr id="7" name="Text 4"/>
          <p:cNvSpPr/>
          <p:nvPr/>
        </p:nvSpPr>
        <p:spPr>
          <a:xfrm>
            <a:off x="868680" y="3611880"/>
            <a:ext cx="2880360" cy="822960"/>
          </a:xfrm>
          <a:prstGeom prst="rect">
            <a:avLst/>
          </a:prstGeom>
          <a:noFill/>
          <a:ln/>
        </p:spPr>
        <p:txBody>
          <a:bodyPr wrap="square" lIns="0" tIns="0" rIns="0" bIns="0" rtlCol="0" anchor="t"/>
          <a:lstStyle/>
          <a:p>
            <a:pPr algn="ctr" indent="0" marL="0">
              <a:lnSpc>
                <a:spcPct val="118000"/>
              </a:lnSpc>
              <a:buNone/>
            </a:pPr>
            <a:r>
              <a:rPr lang="en-US" sz="1350" dirty="0">
                <a:solidFill>
                  <a:srgbClr val="1D2B2B"/>
                </a:solidFill>
                <a:latin typeface="Calibri" pitchFamily="34" charset="0"/>
                <a:ea typeface="Calibri" pitchFamily="34" charset="-122"/>
                <a:cs typeface="Calibri" pitchFamily="34" charset="-120"/>
              </a:rPr>
              <a:t>Tracking traffic and vehicle speed in Karachi and Lahore with live cameras.</a:t>
            </a:r>
            <a:endParaRPr lang="en-US" sz="1350" dirty="0"/>
          </a:p>
        </p:txBody>
      </p:sp>
      <p:sp>
        <p:nvSpPr>
          <p:cNvPr id="8" name="Shape 5"/>
          <p:cNvSpPr/>
          <p:nvPr/>
        </p:nvSpPr>
        <p:spPr>
          <a:xfrm>
            <a:off x="4325112" y="1600200"/>
            <a:ext cx="3520440" cy="2926080"/>
          </a:xfrm>
          <a:prstGeom prst="roundRect">
            <a:avLst>
              <a:gd name="adj" fmla="val 375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9" name="Shape 6"/>
          <p:cNvSpPr/>
          <p:nvPr/>
        </p:nvSpPr>
        <p:spPr>
          <a:xfrm>
            <a:off x="5559552" y="1943100"/>
            <a:ext cx="1051560" cy="1051560"/>
          </a:xfrm>
          <a:prstGeom prst="ellipse">
            <a:avLst/>
          </a:prstGeom>
          <a:solidFill>
            <a:srgbClr val="16B7B3"/>
          </a:solidFill>
          <a:ln/>
        </p:spPr>
      </p:sp>
      <p:pic>
        <p:nvPicPr>
          <p:cNvPr id="10" name="Image 1" descr="assets/ic_bars_w.png">    </p:cNvPr>
          <p:cNvPicPr>
            <a:picLocks noChangeAspect="1"/>
          </p:cNvPicPr>
          <p:nvPr/>
        </p:nvPicPr>
        <p:blipFill>
          <a:blip r:embed="rId2"/>
          <a:stretch>
            <a:fillRect/>
          </a:stretch>
        </p:blipFill>
        <p:spPr>
          <a:xfrm>
            <a:off x="5822442" y="2205990"/>
            <a:ext cx="525780" cy="525780"/>
          </a:xfrm>
          <a:prstGeom prst="rect">
            <a:avLst/>
          </a:prstGeom>
        </p:spPr>
      </p:pic>
      <p:sp>
        <p:nvSpPr>
          <p:cNvPr id="11" name="Text 7"/>
          <p:cNvSpPr/>
          <p:nvPr/>
        </p:nvSpPr>
        <p:spPr>
          <a:xfrm>
            <a:off x="4599432" y="3108960"/>
            <a:ext cx="2971800" cy="502920"/>
          </a:xfrm>
          <a:prstGeom prst="rect">
            <a:avLst/>
          </a:prstGeom>
          <a:noFill/>
          <a:ln/>
        </p:spPr>
        <p:txBody>
          <a:bodyPr wrap="square" lIns="0" tIns="0" rIns="0" bIns="0" rtlCol="0" anchor="ctr"/>
          <a:lstStyle/>
          <a:p>
            <a:pPr algn="ctr" indent="0" marL="0">
              <a:buNone/>
            </a:pPr>
            <a:r>
              <a:rPr lang="en-US" sz="1700" b="1" dirty="0">
                <a:solidFill>
                  <a:srgbClr val="0C7C79"/>
                </a:solidFill>
                <a:latin typeface="Calibri" pitchFamily="34" charset="0"/>
                <a:ea typeface="Calibri" pitchFamily="34" charset="-122"/>
                <a:cs typeface="Calibri" pitchFamily="34" charset="-120"/>
              </a:rPr>
              <a:t>Demand Forecasting</a:t>
            </a:r>
            <a:endParaRPr lang="en-US" sz="1700" dirty="0"/>
          </a:p>
        </p:txBody>
      </p:sp>
      <p:sp>
        <p:nvSpPr>
          <p:cNvPr id="12" name="Text 8"/>
          <p:cNvSpPr/>
          <p:nvPr/>
        </p:nvSpPr>
        <p:spPr>
          <a:xfrm>
            <a:off x="4645152" y="3611880"/>
            <a:ext cx="2880360" cy="822960"/>
          </a:xfrm>
          <a:prstGeom prst="rect">
            <a:avLst/>
          </a:prstGeom>
          <a:noFill/>
          <a:ln/>
        </p:spPr>
        <p:txBody>
          <a:bodyPr wrap="square" lIns="0" tIns="0" rIns="0" bIns="0" rtlCol="0" anchor="t"/>
          <a:lstStyle/>
          <a:p>
            <a:pPr algn="ctr" indent="0" marL="0">
              <a:lnSpc>
                <a:spcPct val="118000"/>
              </a:lnSpc>
              <a:buNone/>
            </a:pPr>
            <a:r>
              <a:rPr lang="en-US" sz="1350" dirty="0">
                <a:solidFill>
                  <a:srgbClr val="1D2B2B"/>
                </a:solidFill>
                <a:latin typeface="Calibri" pitchFamily="34" charset="0"/>
                <a:ea typeface="Calibri" pitchFamily="34" charset="-122"/>
                <a:cs typeface="Calibri" pitchFamily="34" charset="-120"/>
              </a:rPr>
              <a:t>Guessing stock needs so brands like Coca Cola or McDonalds never run out.</a:t>
            </a:r>
            <a:endParaRPr lang="en-US" sz="1350" dirty="0"/>
          </a:p>
        </p:txBody>
      </p:sp>
      <p:sp>
        <p:nvSpPr>
          <p:cNvPr id="13" name="Shape 9"/>
          <p:cNvSpPr/>
          <p:nvPr/>
        </p:nvSpPr>
        <p:spPr>
          <a:xfrm>
            <a:off x="8101584" y="1600200"/>
            <a:ext cx="3520440" cy="2926080"/>
          </a:xfrm>
          <a:prstGeom prst="roundRect">
            <a:avLst>
              <a:gd name="adj" fmla="val 3750"/>
            </a:avLst>
          </a:prstGeom>
          <a:solidFill>
            <a:srgbClr val="F1FAFA"/>
          </a:solidFill>
          <a:ln w="12700">
            <a:solidFill>
              <a:srgbClr val="D7EBEB"/>
            </a:solidFill>
            <a:prstDash val="solid"/>
          </a:ln>
          <a:effectLst>
            <a:outerShdw sx="100000" sy="100000" kx="0" ky="0" algn="bl" rotWithShape="0" blurRad="127000" dist="38100" dir="5400000">
              <a:srgbClr val="0E3A3B">
                <a:alpha val="10000"/>
              </a:srgbClr>
            </a:outerShdw>
          </a:effectLst>
        </p:spPr>
      </p:sp>
      <p:sp>
        <p:nvSpPr>
          <p:cNvPr id="14" name="Shape 10"/>
          <p:cNvSpPr/>
          <p:nvPr/>
        </p:nvSpPr>
        <p:spPr>
          <a:xfrm>
            <a:off x="9336024" y="1943100"/>
            <a:ext cx="1051560" cy="1051560"/>
          </a:xfrm>
          <a:prstGeom prst="ellipse">
            <a:avLst/>
          </a:prstGeom>
          <a:solidFill>
            <a:srgbClr val="16B7B3"/>
          </a:solidFill>
          <a:ln/>
        </p:spPr>
      </p:sp>
      <p:pic>
        <p:nvPicPr>
          <p:cNvPr id="15" name="Image 2" descr="assets/ic_retail_w.png">    </p:cNvPr>
          <p:cNvPicPr>
            <a:picLocks noChangeAspect="1"/>
          </p:cNvPicPr>
          <p:nvPr/>
        </p:nvPicPr>
        <p:blipFill>
          <a:blip r:embed="rId3"/>
          <a:stretch>
            <a:fillRect/>
          </a:stretch>
        </p:blipFill>
        <p:spPr>
          <a:xfrm>
            <a:off x="9598914" y="2205990"/>
            <a:ext cx="525780" cy="525780"/>
          </a:xfrm>
          <a:prstGeom prst="rect">
            <a:avLst/>
          </a:prstGeom>
        </p:spPr>
      </p:pic>
      <p:sp>
        <p:nvSpPr>
          <p:cNvPr id="16" name="Text 11"/>
          <p:cNvSpPr/>
          <p:nvPr/>
        </p:nvSpPr>
        <p:spPr>
          <a:xfrm>
            <a:off x="8375904" y="3108960"/>
            <a:ext cx="2971800" cy="502920"/>
          </a:xfrm>
          <a:prstGeom prst="rect">
            <a:avLst/>
          </a:prstGeom>
          <a:noFill/>
          <a:ln/>
        </p:spPr>
        <p:txBody>
          <a:bodyPr wrap="square" lIns="0" tIns="0" rIns="0" bIns="0" rtlCol="0" anchor="ctr"/>
          <a:lstStyle/>
          <a:p>
            <a:pPr algn="ctr" indent="0" marL="0">
              <a:buNone/>
            </a:pPr>
            <a:r>
              <a:rPr lang="en-US" sz="1700" b="1" dirty="0">
                <a:solidFill>
                  <a:srgbClr val="0C7C79"/>
                </a:solidFill>
                <a:latin typeface="Calibri" pitchFamily="34" charset="0"/>
                <a:ea typeface="Calibri" pitchFamily="34" charset="-122"/>
                <a:cs typeface="Calibri" pitchFamily="34" charset="-120"/>
              </a:rPr>
              <a:t>Retail Analytics</a:t>
            </a:r>
            <a:endParaRPr lang="en-US" sz="1700" dirty="0"/>
          </a:p>
        </p:txBody>
      </p:sp>
      <p:sp>
        <p:nvSpPr>
          <p:cNvPr id="17" name="Text 12"/>
          <p:cNvSpPr/>
          <p:nvPr/>
        </p:nvSpPr>
        <p:spPr>
          <a:xfrm>
            <a:off x="8421624" y="3611880"/>
            <a:ext cx="2880360" cy="822960"/>
          </a:xfrm>
          <a:prstGeom prst="rect">
            <a:avLst/>
          </a:prstGeom>
          <a:noFill/>
          <a:ln/>
        </p:spPr>
        <p:txBody>
          <a:bodyPr wrap="square" lIns="0" tIns="0" rIns="0" bIns="0" rtlCol="0" anchor="t"/>
          <a:lstStyle/>
          <a:p>
            <a:pPr algn="ctr" indent="0" marL="0">
              <a:lnSpc>
                <a:spcPct val="118000"/>
              </a:lnSpc>
              <a:buNone/>
            </a:pPr>
            <a:r>
              <a:rPr lang="en-US" sz="1350" dirty="0">
                <a:solidFill>
                  <a:srgbClr val="1D2B2B"/>
                </a:solidFill>
                <a:latin typeface="Calibri" pitchFamily="34" charset="0"/>
                <a:ea typeface="Calibri" pitchFamily="34" charset="-122"/>
                <a:cs typeface="Calibri" pitchFamily="34" charset="-120"/>
              </a:rPr>
              <a:t>Reading customer habits so shops can make smarter and faster choices.</a:t>
            </a:r>
            <a:endParaRPr lang="en-US" sz="1350" dirty="0"/>
          </a:p>
        </p:txBody>
      </p:sp>
      <p:sp>
        <p:nvSpPr>
          <p:cNvPr id="18" name="Shape 13"/>
          <p:cNvSpPr/>
          <p:nvPr/>
        </p:nvSpPr>
        <p:spPr>
          <a:xfrm>
            <a:off x="548640" y="4892040"/>
            <a:ext cx="11091672" cy="960120"/>
          </a:xfrm>
          <a:prstGeom prst="roundRect">
            <a:avLst>
              <a:gd name="adj" fmla="val 11429"/>
            </a:avLst>
          </a:prstGeom>
          <a:solidFill>
            <a:srgbClr val="0E3A3B"/>
          </a:solidFill>
          <a:ln/>
        </p:spPr>
      </p:sp>
      <p:sp>
        <p:nvSpPr>
          <p:cNvPr id="19" name="Text 14"/>
          <p:cNvSpPr/>
          <p:nvPr/>
        </p:nvSpPr>
        <p:spPr>
          <a:xfrm>
            <a:off x="914400" y="4892040"/>
            <a:ext cx="10332720" cy="960120"/>
          </a:xfrm>
          <a:prstGeom prst="rect">
            <a:avLst/>
          </a:prstGeom>
          <a:noFill/>
          <a:ln/>
        </p:spPr>
        <p:txBody>
          <a:bodyPr wrap="square" rtlCol="0" anchor="ctr"/>
          <a:lstStyle/>
          <a:p>
            <a:pPr algn="ctr" indent="0" marL="0">
              <a:lnSpc>
                <a:spcPct val="110000"/>
              </a:lnSpc>
              <a:buNone/>
            </a:pPr>
            <a:r>
              <a:rPr lang="en-US" sz="1550" dirty="0">
                <a:solidFill>
                  <a:srgbClr val="FFFFFF"/>
                </a:solidFill>
                <a:latin typeface="Calibri" pitchFamily="34" charset="0"/>
                <a:ea typeface="Calibri" pitchFamily="34" charset="-122"/>
                <a:cs typeface="Calibri" pitchFamily="34" charset="-120"/>
              </a:rPr>
              <a:t>Learn helmet detection and you can also do mask, weapon, or safety gear detection.  </a:t>
            </a:r>
            <a:pPr algn="ctr" indent="0" marL="0">
              <a:lnSpc>
                <a:spcPct val="110000"/>
              </a:lnSpc>
              <a:buNone/>
            </a:pPr>
            <a:r>
              <a:rPr lang="en-US" sz="1550" b="1" dirty="0">
                <a:solidFill>
                  <a:srgbClr val="16B7B3"/>
                </a:solidFill>
                <a:latin typeface="Calibri" pitchFamily="34" charset="0"/>
                <a:ea typeface="Calibri" pitchFamily="34" charset="-122"/>
                <a:cs typeface="Calibri" pitchFamily="34" charset="-120"/>
              </a:rPr>
              <a:t>Learn one skill, use it everywhere.</a:t>
            </a:r>
            <a:endParaRPr lang="en-US" sz="1550" dirty="0"/>
          </a:p>
        </p:txBody>
      </p:sp>
      <p:pic>
        <p:nvPicPr>
          <p:cNvPr id="20" name="Image 3" descr="assets/logo_teal_crop.png">    </p:cNvPr>
          <p:cNvPicPr>
            <a:picLocks noChangeAspect="1"/>
          </p:cNvPicPr>
          <p:nvPr/>
        </p:nvPicPr>
        <p:blipFill>
          <a:blip r:embed="rId4"/>
          <a:stretch>
            <a:fillRect/>
          </a:stretch>
        </p:blipFill>
        <p:spPr>
          <a:xfrm>
            <a:off x="548640" y="6419088"/>
            <a:ext cx="256032" cy="256032"/>
          </a:xfrm>
          <a:prstGeom prst="rect">
            <a:avLst/>
          </a:prstGeom>
        </p:spPr>
      </p:pic>
      <p:sp>
        <p:nvSpPr>
          <p:cNvPr id="21" name="Text 15"/>
          <p:cNvSpPr/>
          <p:nvPr/>
        </p:nvSpPr>
        <p:spPr>
          <a:xfrm>
            <a:off x="868680" y="6391656"/>
            <a:ext cx="4572000" cy="310896"/>
          </a:xfrm>
          <a:prstGeom prst="rect">
            <a:avLst/>
          </a:prstGeom>
          <a:noFill/>
          <a:ln/>
        </p:spPr>
        <p:txBody>
          <a:bodyPr wrap="square" lIns="0" tIns="0" rIns="0" bIns="0" rtlCol="0" anchor="ctr"/>
          <a:lstStyle/>
          <a:p>
            <a:pPr algn="l" indent="0" marL="0">
              <a:buNone/>
            </a:pPr>
            <a:r>
              <a:rPr lang="en-US" sz="900" dirty="0">
                <a:solidFill>
                  <a:srgbClr val="5F7373"/>
                </a:solidFill>
                <a:latin typeface="Calibri" pitchFamily="34" charset="0"/>
                <a:ea typeface="Calibri" pitchFamily="34" charset="-122"/>
                <a:cs typeface="Calibri" pitchFamily="34" charset="-120"/>
              </a:rPr>
              <a:t>Devsil (SMC-Private) Limited</a:t>
            </a:r>
            <a:endParaRPr lang="en-US" sz="900" dirty="0"/>
          </a:p>
        </p:txBody>
      </p:sp>
      <p:sp>
        <p:nvSpPr>
          <p:cNvPr id="22" name="Text 16"/>
          <p:cNvSpPr/>
          <p:nvPr/>
        </p:nvSpPr>
        <p:spPr>
          <a:xfrm>
            <a:off x="11338560" y="6391656"/>
            <a:ext cx="457200" cy="310896"/>
          </a:xfrm>
          <a:prstGeom prst="rect">
            <a:avLst/>
          </a:prstGeom>
          <a:noFill/>
          <a:ln/>
        </p:spPr>
        <p:txBody>
          <a:bodyPr wrap="square" rtlCol="0" anchor="ctr"/>
          <a:lstStyle/>
          <a:p>
            <a:pPr algn="r" indent="0" marL="0">
              <a:buNone/>
            </a:pPr>
            <a:r>
              <a:rPr lang="en-US" sz="1000" b="1" dirty="0">
                <a:solidFill>
                  <a:srgbClr val="5F73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3A3B"/>
        </a:solidFill>
      </p:bgPr>
    </p:bg>
    <p:spTree>
      <p:nvGrpSpPr>
        <p:cNvPr id="1" name=""/>
        <p:cNvGrpSpPr/>
        <p:nvPr/>
      </p:nvGrpSpPr>
      <p:grpSpPr>
        <a:xfrm>
          <a:off x="0" y="0"/>
          <a:ext cx="0" cy="0"/>
          <a:chOff x="0" y="0"/>
          <a:chExt cx="0" cy="0"/>
        </a:xfrm>
      </p:grpSpPr>
      <p:pic>
        <p:nvPicPr>
          <p:cNvPr id="2" name="Image 0" descr="assets/logo_white_crop.png">    </p:cNvPr>
          <p:cNvPicPr>
            <a:picLocks noChangeAspect="1"/>
          </p:cNvPicPr>
          <p:nvPr/>
        </p:nvPicPr>
        <p:blipFill>
          <a:blip r:embed="rId1">
            <a:alphaModFix amt="12000"/>
          </a:blip>
          <a:stretch>
            <a:fillRect/>
          </a:stretch>
        </p:blipFill>
        <p:spPr>
          <a:xfrm>
            <a:off x="9692640" y="4114800"/>
            <a:ext cx="3291840" cy="3291840"/>
          </a:xfrm>
          <a:prstGeom prst="rect">
            <a:avLst/>
          </a:prstGeom>
        </p:spPr>
      </p:pic>
      <p:pic>
        <p:nvPicPr>
          <p:cNvPr id="3" name="Image 1" descr="assets/logo_white_crop.png">    </p:cNvPr>
          <p:cNvPicPr>
            <a:picLocks noChangeAspect="1"/>
          </p:cNvPicPr>
          <p:nvPr/>
        </p:nvPicPr>
        <p:blipFill>
          <a:blip r:embed="rId2"/>
          <a:stretch>
            <a:fillRect/>
          </a:stretch>
        </p:blipFill>
        <p:spPr>
          <a:xfrm>
            <a:off x="5733288" y="1371600"/>
            <a:ext cx="731520" cy="731520"/>
          </a:xfrm>
          <a:prstGeom prst="rect">
            <a:avLst/>
          </a:prstGeom>
        </p:spPr>
      </p:pic>
      <p:sp>
        <p:nvSpPr>
          <p:cNvPr id="4" name="Text 0"/>
          <p:cNvSpPr/>
          <p:nvPr/>
        </p:nvSpPr>
        <p:spPr>
          <a:xfrm>
            <a:off x="548640" y="2331720"/>
            <a:ext cx="1106424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Your Skills </a:t>
            </a:r>
            <a:pPr algn="ctr" indent="0" marL="0">
              <a:buNone/>
            </a:pPr>
            <a:r>
              <a:rPr lang="en-US" sz="4400" b="1" dirty="0">
                <a:solidFill>
                  <a:srgbClr val="16B7B3"/>
                </a:solidFill>
                <a:latin typeface="Calibri" pitchFamily="34" charset="0"/>
                <a:ea typeface="Calibri" pitchFamily="34" charset="-122"/>
                <a:cs typeface="Calibri" pitchFamily="34" charset="-120"/>
              </a:rPr>
              <a:t>Will Win</a:t>
            </a:r>
            <a:endParaRPr lang="en-US" sz="4400" dirty="0"/>
          </a:p>
        </p:txBody>
      </p:sp>
      <p:sp>
        <p:nvSpPr>
          <p:cNvPr id="5" name="Text 1"/>
          <p:cNvSpPr/>
          <p:nvPr/>
        </p:nvSpPr>
        <p:spPr>
          <a:xfrm>
            <a:off x="1828800" y="3383280"/>
            <a:ext cx="8531352" cy="1005840"/>
          </a:xfrm>
          <a:prstGeom prst="rect">
            <a:avLst/>
          </a:prstGeom>
          <a:noFill/>
          <a:ln/>
        </p:spPr>
        <p:txBody>
          <a:bodyPr wrap="square" rtlCol="0" anchor="t"/>
          <a:lstStyle/>
          <a:p>
            <a:pPr algn="ctr" indent="0" marL="0">
              <a:lnSpc>
                <a:spcPct val="130000"/>
              </a:lnSpc>
              <a:buNone/>
            </a:pPr>
            <a:r>
              <a:rPr lang="en-US" sz="1700" dirty="0">
                <a:solidFill>
                  <a:srgbClr val="DCEFEE"/>
                </a:solidFill>
                <a:latin typeface="Calibri" pitchFamily="34" charset="0"/>
                <a:ea typeface="Calibri" pitchFamily="34" charset="-122"/>
                <a:cs typeface="Calibri" pitchFamily="34" charset="-120"/>
              </a:rPr>
              <a:t>Stay steady, build a strong skill set, show your real world projects, and you will be ready to join any job out there.</a:t>
            </a:r>
            <a:endParaRPr lang="en-US" sz="1700" dirty="0"/>
          </a:p>
        </p:txBody>
      </p:sp>
      <p:sp>
        <p:nvSpPr>
          <p:cNvPr id="6" name="Shape 2"/>
          <p:cNvSpPr/>
          <p:nvPr/>
        </p:nvSpPr>
        <p:spPr>
          <a:xfrm>
            <a:off x="4270248" y="4709160"/>
            <a:ext cx="3657600" cy="566928"/>
          </a:xfrm>
          <a:prstGeom prst="roundRect">
            <a:avLst>
              <a:gd name="adj" fmla="val 50000"/>
            </a:avLst>
          </a:prstGeom>
          <a:solidFill>
            <a:srgbClr val="12504E"/>
          </a:solidFill>
          <a:ln/>
        </p:spPr>
      </p:sp>
      <p:sp>
        <p:nvSpPr>
          <p:cNvPr id="7" name="Text 3"/>
          <p:cNvSpPr/>
          <p:nvPr/>
        </p:nvSpPr>
        <p:spPr>
          <a:xfrm>
            <a:off x="4270248" y="4709160"/>
            <a:ext cx="3657600" cy="566928"/>
          </a:xfrm>
          <a:prstGeom prst="rect">
            <a:avLst/>
          </a:prstGeom>
          <a:noFill/>
          <a:ln/>
        </p:spPr>
        <p:txBody>
          <a:bodyPr wrap="square" rtlCol="0" anchor="ctr"/>
          <a:lstStyle/>
          <a:p>
            <a:pPr algn="ctr" indent="0" marL="0">
              <a:buNone/>
            </a:pPr>
            <a:r>
              <a:rPr lang="en-US" sz="1500" b="1" dirty="0">
                <a:solidFill>
                  <a:srgbClr val="16B7B3"/>
                </a:solidFill>
                <a:latin typeface="Calibri" pitchFamily="34" charset="0"/>
                <a:ea typeface="Calibri" pitchFamily="34" charset="-122"/>
                <a:cs typeface="Calibri" pitchFamily="34" charset="-120"/>
              </a:rPr>
              <a:t>Questions and Answers</a:t>
            </a:r>
            <a:endParaRPr lang="en-US" sz="1500" dirty="0"/>
          </a:p>
        </p:txBody>
      </p:sp>
      <p:sp>
        <p:nvSpPr>
          <p:cNvPr id="8" name="Text 4"/>
          <p:cNvSpPr/>
          <p:nvPr/>
        </p:nvSpPr>
        <p:spPr>
          <a:xfrm>
            <a:off x="548640" y="5806440"/>
            <a:ext cx="11064240" cy="457200"/>
          </a:xfrm>
          <a:prstGeom prst="rect">
            <a:avLst/>
          </a:prstGeom>
          <a:noFill/>
          <a:ln/>
        </p:spPr>
        <p:txBody>
          <a:bodyPr wrap="square" rtlCol="0" anchor="ctr"/>
          <a:lstStyle/>
          <a:p>
            <a:pPr algn="ctr" indent="0" marL="0">
              <a:buNone/>
            </a:pPr>
            <a:r>
              <a:rPr lang="en-US" sz="1300" b="1" dirty="0">
                <a:solidFill>
                  <a:srgbClr val="6FA9A8"/>
                </a:solidFill>
                <a:latin typeface="Calibri" pitchFamily="34" charset="0"/>
                <a:ea typeface="Calibri" pitchFamily="34" charset="-122"/>
                <a:cs typeface="Calibri" pitchFamily="34" charset="-120"/>
              </a:rPr>
              <a:t>Devsil (SMC-Private) Limited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2026-07-14T07:41:00Z</dcterms:created>
  <dcterms:modified xsi:type="dcterms:W3CDTF">2026-07-14T07:41:00Z</dcterms:modified>
</cp:coreProperties>
</file>